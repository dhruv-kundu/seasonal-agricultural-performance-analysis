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6"/>
  </p:notesMasterIdLst>
  <p:handoutMasterIdLst>
    <p:handoutMasterId r:id="rId27"/>
  </p:handoutMasterIdLst>
  <p:sldIdLst>
    <p:sldId id="338" r:id="rId5"/>
    <p:sldId id="327" r:id="rId6"/>
    <p:sldId id="315" r:id="rId7"/>
    <p:sldId id="302" r:id="rId8"/>
    <p:sldId id="329" r:id="rId9"/>
    <p:sldId id="339" r:id="rId10"/>
    <p:sldId id="352" r:id="rId11"/>
    <p:sldId id="353" r:id="rId12"/>
    <p:sldId id="354" r:id="rId13"/>
    <p:sldId id="355" r:id="rId14"/>
    <p:sldId id="356" r:id="rId15"/>
    <p:sldId id="358" r:id="rId16"/>
    <p:sldId id="357" r:id="rId17"/>
    <p:sldId id="341" r:id="rId18"/>
    <p:sldId id="342" r:id="rId19"/>
    <p:sldId id="343" r:id="rId20"/>
    <p:sldId id="348" r:id="rId21"/>
    <p:sldId id="349" r:id="rId22"/>
    <p:sldId id="350" r:id="rId23"/>
    <p:sldId id="351" r:id="rId24"/>
    <p:sldId id="34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94" autoAdjust="0"/>
    <p:restoredTop sz="95033" autoAdjust="0"/>
  </p:normalViewPr>
  <p:slideViewPr>
    <p:cSldViewPr snapToGrid="0">
      <p:cViewPr varScale="1">
        <p:scale>
          <a:sx n="68" d="100"/>
          <a:sy n="68" d="100"/>
        </p:scale>
        <p:origin x="-508" y="-60"/>
      </p:cViewPr>
      <p:guideLst>
        <p:guide orient="horz" pos="1968"/>
        <p:guide orient="horz" pos="3912"/>
        <p:guide orient="horz" pos="1656"/>
        <p:guide pos="408"/>
        <p:guide pos="7272"/>
      </p:guideLst>
    </p:cSldViewPr>
  </p:slideViewPr>
  <p:outlineViewPr>
    <p:cViewPr>
      <p:scale>
        <a:sx n="33" d="100"/>
        <a:sy n="33" d="100"/>
      </p:scale>
      <p:origin x="0" y="0"/>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9/4/2026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4</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xmlns=""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xmlns=""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xmlns=""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xmlns=""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xmlns=""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xmlns=""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19.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20.png"/><Relationship Id="rId5" Type="http://schemas.openxmlformats.org/officeDocument/2006/relationships/image" Target="../media/image1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22.png"/><Relationship Id="rId5" Type="http://schemas.openxmlformats.org/officeDocument/2006/relationships/image" Target="../media/image1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24.png"/><Relationship Id="rId5" Type="http://schemas.openxmlformats.org/officeDocument/2006/relationships/image" Target="../media/image1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1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3228392" y="3826509"/>
            <a:ext cx="7613779" cy="861497"/>
          </a:xfrm>
        </p:spPr>
        <p:txBody>
          <a:bodyPr vert="horz" lIns="91440" tIns="45720" rIns="91440" bIns="45720" rtlCol="0" anchor="t">
            <a:noAutofit/>
          </a:bodyPr>
          <a:lstStyle/>
          <a:p>
            <a:pPr algn="r"/>
            <a:r>
              <a:rPr lang="en-IN" sz="2400" u="sng" dirty="0" smtClean="0">
                <a:solidFill>
                  <a:schemeClr val="tx1"/>
                </a:solidFill>
                <a:latin typeface="Cambria" pitchFamily="18" charset="0"/>
                <a:ea typeface="Cambria" pitchFamily="18" charset="0"/>
              </a:rPr>
              <a:t>DHRUV</a:t>
            </a:r>
            <a:endParaRPr lang="en-IN" sz="2400" u="sng" dirty="0">
              <a:solidFill>
                <a:schemeClr val="tx1"/>
              </a:solidFill>
              <a:latin typeface="Cambria" pitchFamily="18" charset="0"/>
              <a:ea typeface="Cambria" pitchFamily="18" charset="0"/>
            </a:endParaRPr>
          </a:p>
          <a:p>
            <a:pPr algn="r"/>
            <a:r>
              <a:rPr lang="en-US" sz="2400" u="sng" dirty="0" smtClean="0">
                <a:solidFill>
                  <a:schemeClr val="tx1"/>
                </a:solidFill>
                <a:latin typeface="Cambria" pitchFamily="18" charset="0"/>
                <a:ea typeface="Cambria" pitchFamily="18" charset="0"/>
              </a:rPr>
              <a:t>GURU GOBIND SINGH INDRAPRASTHA UNIVERSITY</a:t>
            </a:r>
            <a:endParaRPr lang="en-IN" sz="2400" u="sng" dirty="0">
              <a:solidFill>
                <a:schemeClr val="tx1"/>
              </a:solidFill>
              <a:latin typeface="Cambria" pitchFamily="18" charset="0"/>
              <a:ea typeface="Cambria" pitchFamily="18" charset="0"/>
            </a:endParaRP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146" name="Picture 2"/>
          <p:cNvPicPr>
            <a:picLocks noChangeAspect="1" noChangeArrowheads="1"/>
          </p:cNvPicPr>
          <p:nvPr/>
        </p:nvPicPr>
        <p:blipFill>
          <a:blip r:embed="rId3"/>
          <a:srcRect/>
          <a:stretch>
            <a:fillRect/>
          </a:stretch>
        </p:blipFill>
        <p:spPr bwMode="auto">
          <a:xfrm>
            <a:off x="345234" y="270588"/>
            <a:ext cx="6204856" cy="2536276"/>
          </a:xfrm>
          <a:prstGeom prst="rect">
            <a:avLst/>
          </a:prstGeom>
          <a:noFill/>
          <a:ln w="9525">
            <a:noFill/>
            <a:miter lim="800000"/>
            <a:headEnd/>
            <a:tailEnd/>
          </a:ln>
          <a:effectLst/>
        </p:spPr>
      </p:pic>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846314" y="3161992"/>
            <a:ext cx="11171514" cy="743448"/>
          </a:xfrm>
        </p:spPr>
        <p:txBody>
          <a:bodyPr>
            <a:noAutofit/>
          </a:bodyPr>
          <a:lstStyle/>
          <a:p>
            <a:r>
              <a:rPr lang="en-GB" b="1" dirty="0">
                <a:latin typeface="Cambria" pitchFamily="18" charset="0"/>
                <a:ea typeface="Cambria" pitchFamily="18" charset="0"/>
              </a:rPr>
              <a:t>Project Title </a:t>
            </a:r>
            <a:r>
              <a:rPr lang="en-GB" dirty="0" smtClean="0">
                <a:latin typeface="Cambria" pitchFamily="18" charset="0"/>
                <a:ea typeface="Cambria" pitchFamily="18" charset="0"/>
              </a:rPr>
              <a:t>– </a:t>
            </a:r>
            <a:r>
              <a:rPr lang="en-GB" u="sng" dirty="0" smtClean="0">
                <a:latin typeface="Cambria" pitchFamily="18" charset="0"/>
                <a:ea typeface="Cambria" pitchFamily="18" charset="0"/>
              </a:rPr>
              <a:t>Seasonal Agricultural Performance Analysis </a:t>
            </a:r>
            <a:endParaRPr lang="en-IN" u="sng" dirty="0">
              <a:latin typeface="Cambria" pitchFamily="18" charset="0"/>
              <a:ea typeface="Cambria" pitchFamily="18" charset="0"/>
            </a:endParaRPr>
          </a:p>
        </p:txBody>
      </p:sp>
      <p:pic>
        <p:nvPicPr>
          <p:cNvPr id="6147"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6148" name="Picture 4"/>
          <p:cNvPicPr>
            <a:picLocks noChangeAspect="1" noChangeArrowheads="1"/>
          </p:cNvPicPr>
          <p:nvPr/>
        </p:nvPicPr>
        <p:blipFill>
          <a:blip r:embed="rId5"/>
          <a:srcRect/>
          <a:stretch>
            <a:fillRect/>
          </a:stretch>
        </p:blipFill>
        <p:spPr bwMode="auto">
          <a:xfrm>
            <a:off x="7794724" y="0"/>
            <a:ext cx="1625600" cy="1085850"/>
          </a:xfrm>
          <a:prstGeom prst="rect">
            <a:avLst/>
          </a:prstGeom>
          <a:noFill/>
          <a:ln w="9525">
            <a:noFill/>
            <a:miter lim="800000"/>
            <a:headEnd/>
            <a:tailEnd/>
          </a:ln>
          <a:effectLst/>
        </p:spPr>
      </p:pic>
      <p:sp>
        <p:nvSpPr>
          <p:cNvPr id="10" name="Text Placeholder 1">
            <a:extLst>
              <a:ext uri="{FF2B5EF4-FFF2-40B4-BE49-F238E27FC236}">
                <a16:creationId xmlns:a16="http://schemas.microsoft.com/office/drawing/2014/main" xmlns="" id="{7201737A-B873-4D1D-8A41-5ABF5184BC8F}"/>
              </a:ext>
            </a:extLst>
          </p:cNvPr>
          <p:cNvSpPr txBox="1">
            <a:spLocks/>
          </p:cNvSpPr>
          <p:nvPr/>
        </p:nvSpPr>
        <p:spPr>
          <a:xfrm>
            <a:off x="1017037" y="1384997"/>
            <a:ext cx="8873412" cy="861497"/>
          </a:xfrm>
          <a:prstGeom prst="rect">
            <a:avLst/>
          </a:prstGeom>
        </p:spPr>
        <p:txBody>
          <a:bodyPr vert="horz" lIns="91440" tIns="45720" rIns="91440" bIns="45720" rtlCol="0" anchor="t">
            <a:noAutofit/>
          </a:bodyPr>
          <a:lstStyle/>
          <a:p>
            <a:pPr lvl="0" algn="ctr">
              <a:spcBef>
                <a:spcPts val="1000"/>
              </a:spcBef>
              <a:buClr>
                <a:schemeClr val="accent1"/>
              </a:buClr>
              <a:buSzPct val="80000"/>
            </a:pPr>
            <a:r>
              <a:rPr lang="en-US" sz="2400" b="1" dirty="0" smtClean="0">
                <a:latin typeface="Cambria" pitchFamily="18" charset="0"/>
                <a:ea typeface="Cambria" pitchFamily="18" charset="0"/>
              </a:rPr>
              <a:t>VOIS</a:t>
            </a:r>
            <a:r>
              <a:rPr lang="en-US" sz="2400" dirty="0" smtClean="0">
                <a:latin typeface="Cambria" pitchFamily="18" charset="0"/>
                <a:ea typeface="Cambria" pitchFamily="18" charset="0"/>
              </a:rPr>
              <a:t> for </a:t>
            </a:r>
            <a:r>
              <a:rPr lang="en-US" sz="2400" b="1" dirty="0" smtClean="0">
                <a:latin typeface="Cambria" pitchFamily="18" charset="0"/>
                <a:ea typeface="Cambria" pitchFamily="18" charset="0"/>
              </a:rPr>
              <a:t>Tech Program </a:t>
            </a:r>
            <a:r>
              <a:rPr lang="en-US" sz="2400" dirty="0" smtClean="0">
                <a:latin typeface="Cambria" pitchFamily="18" charset="0"/>
                <a:ea typeface="Cambria" pitchFamily="18" charset="0"/>
              </a:rPr>
              <a:t>on </a:t>
            </a:r>
            <a:r>
              <a:rPr lang="en-US" sz="2400" b="1" dirty="0" smtClean="0">
                <a:latin typeface="Cambria" pitchFamily="18" charset="0"/>
                <a:ea typeface="Cambria" pitchFamily="18" charset="0"/>
              </a:rPr>
              <a:t>DATA ANALYTICS</a:t>
            </a:r>
            <a:endParaRPr lang="en-US" sz="2400" dirty="0" smtClean="0">
              <a:latin typeface="Cambria" pitchFamily="18" charset="0"/>
              <a:ea typeface="Cambria" pitchFamily="18" charset="0"/>
            </a:endParaRPr>
          </a:p>
          <a:p>
            <a:pPr lvl="0" algn="ctr">
              <a:spcBef>
                <a:spcPts val="1000"/>
              </a:spcBef>
              <a:buClr>
                <a:schemeClr val="accent1"/>
              </a:buClr>
              <a:buSzPct val="80000"/>
            </a:pP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Internship</a:t>
            </a:r>
          </a:p>
          <a:p>
            <a:pPr lvl="0" algn="ctr">
              <a:spcBef>
                <a:spcPts val="1000"/>
              </a:spcBef>
              <a:buClr>
                <a:schemeClr val="accent1"/>
              </a:buClr>
              <a:buSzPct val="80000"/>
            </a:pPr>
            <a:r>
              <a:rPr lang="en-IN" sz="2400" b="1" dirty="0" smtClean="0">
                <a:latin typeface="Cambria" pitchFamily="18" charset="0"/>
                <a:ea typeface="Cambria" pitchFamily="18" charset="0"/>
              </a:rPr>
              <a:t>Major Project Submission</a:t>
            </a:r>
            <a:endPar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endParaRPr>
          </a:p>
          <a:p>
            <a:pPr lvl="0" algn="ctr">
              <a:spcBef>
                <a:spcPts val="1000"/>
              </a:spcBef>
              <a:buClr>
                <a:schemeClr val="accent1"/>
              </a:buClr>
              <a:buSzPct val="80000"/>
            </a:pPr>
            <a:endParaRPr kumimoji="0" lang="en-IN" sz="2400" b="0" i="0" u="none" strike="noStrike" kern="1200" cap="none" spc="0" normalizeH="0" baseline="0" noProof="0" dirty="0">
              <a:ln>
                <a:noFill/>
              </a:ln>
              <a:solidFill>
                <a:schemeClr val="tx1"/>
              </a:solidFill>
              <a:effectLst/>
              <a:uLnTx/>
              <a:uFillTx/>
              <a:latin typeface="Cambria" pitchFamily="18" charset="0"/>
              <a:ea typeface="Cambria" pitchFamily="18" charset="0"/>
            </a:endParaRPr>
          </a:p>
        </p:txBody>
      </p:sp>
      <p:sp>
        <p:nvSpPr>
          <p:cNvPr id="11" name="TextBox 10">
            <a:extLst>
              <a:ext uri="{FF2B5EF4-FFF2-40B4-BE49-F238E27FC236}">
                <a16:creationId xmlns:a16="http://schemas.microsoft.com/office/drawing/2014/main" xmlns="" id="{17F04107-8754-E47D-3375-529E689711FA}"/>
              </a:ext>
            </a:extLst>
          </p:cNvPr>
          <p:cNvSpPr txBox="1"/>
          <p:nvPr/>
        </p:nvSpPr>
        <p:spPr>
          <a:xfrm>
            <a:off x="2634343" y="5839213"/>
            <a:ext cx="8546841" cy="830997"/>
          </a:xfrm>
          <a:prstGeom prst="rect">
            <a:avLst/>
          </a:prstGeom>
          <a:noFill/>
        </p:spPr>
        <p:txBody>
          <a:bodyPr wrap="square" rtlCol="0">
            <a:spAutoFit/>
          </a:bodyPr>
          <a:lstStyle/>
          <a:p>
            <a:pPr algn="r"/>
            <a:r>
              <a:rPr lang="en-US" sz="2400" b="1" dirty="0" err="1" smtClean="0">
                <a:latin typeface="Cambria" pitchFamily="18" charset="0"/>
                <a:ea typeface="Cambria" pitchFamily="18" charset="0"/>
              </a:rPr>
              <a:t>Github</a:t>
            </a:r>
            <a:r>
              <a:rPr lang="en-US" sz="2400" b="1" dirty="0" smtClean="0">
                <a:latin typeface="Cambria" pitchFamily="18" charset="0"/>
                <a:ea typeface="Cambria" pitchFamily="18" charset="0"/>
              </a:rPr>
              <a:t> ID : </a:t>
            </a:r>
            <a:r>
              <a:rPr lang="en-US" sz="2400" dirty="0" smtClean="0">
                <a:latin typeface="Cambria" pitchFamily="18" charset="0"/>
                <a:ea typeface="Cambria" pitchFamily="18" charset="0"/>
              </a:rPr>
              <a:t>https://github.com/Dhruv-kundu</a:t>
            </a:r>
          </a:p>
          <a:p>
            <a:pPr algn="r"/>
            <a:r>
              <a:rPr lang="en-US" sz="2400" b="1" dirty="0" smtClean="0">
                <a:latin typeface="Cambria" pitchFamily="18" charset="0"/>
                <a:ea typeface="Cambria" pitchFamily="18" charset="0"/>
              </a:rPr>
              <a:t>Linked In ID: </a:t>
            </a:r>
            <a:r>
              <a:rPr lang="en-US" sz="2400" dirty="0" smtClean="0">
                <a:latin typeface="Cambria" pitchFamily="18" charset="0"/>
                <a:ea typeface="Cambria" pitchFamily="18" charset="0"/>
              </a:rPr>
              <a:t>https://www.linkedin.com/in/DhruvKundu</a:t>
            </a:r>
            <a:endParaRPr lang="en-US" sz="2400" dirty="0">
              <a:latin typeface="Cambria" pitchFamily="18" charset="0"/>
              <a:ea typeface="Cambria" pitchFamily="18" charset="0"/>
            </a:endParaRPr>
          </a:p>
        </p:txBody>
      </p:sp>
      <p:pic>
        <p:nvPicPr>
          <p:cNvPr id="12" name="Picture 2"/>
          <p:cNvPicPr>
            <a:picLocks noChangeAspect="1" noChangeArrowheads="1"/>
          </p:cNvPicPr>
          <p:nvPr/>
        </p:nvPicPr>
        <p:blipFill>
          <a:blip r:embed="rId3"/>
          <a:srcRect/>
          <a:stretch>
            <a:fillRect/>
          </a:stretch>
        </p:blipFill>
        <p:spPr bwMode="auto">
          <a:xfrm>
            <a:off x="1309397" y="4786603"/>
            <a:ext cx="3267805" cy="1335737"/>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xmlns="" id="{17F04107-8754-E47D-3375-529E689711FA}"/>
              </a:ext>
            </a:extLst>
          </p:cNvPr>
          <p:cNvSpPr txBox="1"/>
          <p:nvPr/>
        </p:nvSpPr>
        <p:spPr>
          <a:xfrm>
            <a:off x="2584580" y="4921702"/>
            <a:ext cx="8546841" cy="830997"/>
          </a:xfrm>
          <a:prstGeom prst="rect">
            <a:avLst/>
          </a:prstGeom>
          <a:noFill/>
        </p:spPr>
        <p:txBody>
          <a:bodyPr wrap="square" rtlCol="0">
            <a:spAutoFit/>
          </a:bodyPr>
          <a:lstStyle/>
          <a:p>
            <a:pPr algn="r"/>
            <a:r>
              <a:rPr lang="en-US" sz="2400" b="1" dirty="0">
                <a:latin typeface="Cambria" pitchFamily="18" charset="0"/>
                <a:ea typeface="Cambria" pitchFamily="18" charset="0"/>
              </a:rPr>
              <a:t>AICTE STU ID </a:t>
            </a:r>
            <a:r>
              <a:rPr lang="en-US" sz="2400" b="1" dirty="0" smtClean="0">
                <a:latin typeface="Cambria" pitchFamily="18" charset="0"/>
                <a:ea typeface="Cambria" pitchFamily="18" charset="0"/>
              </a:rPr>
              <a:t>: </a:t>
            </a:r>
            <a:r>
              <a:rPr lang="en-US" sz="2400" dirty="0" smtClean="0">
                <a:latin typeface="Cambria" pitchFamily="18" charset="0"/>
                <a:ea typeface="Cambria" pitchFamily="18" charset="0"/>
              </a:rPr>
              <a:t>STU6a084888b0f0b1778927752</a:t>
            </a:r>
          </a:p>
          <a:p>
            <a:pPr algn="r"/>
            <a:r>
              <a:rPr lang="en-US" sz="2400" b="1" dirty="0" smtClean="0">
                <a:latin typeface="Cambria" pitchFamily="18" charset="0"/>
                <a:ea typeface="Cambria" pitchFamily="18" charset="0"/>
              </a:rPr>
              <a:t>Internship ID: </a:t>
            </a:r>
            <a:r>
              <a:rPr lang="en-US" sz="2400" dirty="0" smtClean="0">
                <a:latin typeface="Cambria" pitchFamily="18" charset="0"/>
                <a:ea typeface="Cambria" pitchFamily="18" charset="0"/>
              </a:rPr>
              <a:t>INTERNSHIP_17830691666a4779eecfe8a</a:t>
            </a:r>
            <a:endParaRPr lang="en-US" sz="2400" dirty="0">
              <a:latin typeface="Cambria" pitchFamily="18" charset="0"/>
              <a:ea typeface="Cambria" pitchFamily="18" charset="0"/>
            </a:endParaRPr>
          </a:p>
        </p:txBody>
      </p:sp>
    </p:spTree>
    <p:extLst>
      <p:ext uri="{BB962C8B-B14F-4D97-AF65-F5344CB8AC3E}">
        <p14:creationId xmlns:p14="http://schemas.microsoft.com/office/powerpoint/2010/main" xmlns="" val="16040134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37" dur="500"/>
                                        <p:tgtEl>
                                          <p:spTgt spid="1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42" dur="500"/>
                                        <p:tgtEl>
                                          <p:spTgt spid="10">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4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5" grpId="0"/>
      <p:bldP spid="4" grpId="0"/>
      <p:bldP spid="1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307909" y="1679511"/>
            <a:ext cx="8257592" cy="3023118"/>
          </a:xfrm>
        </p:spPr>
        <p:txBody>
          <a:bodyPr vert="horz" lIns="91440" tIns="45720" rIns="91440" bIns="45720" rtlCol="0" anchor="t">
            <a:noAutofit/>
          </a:bodyPr>
          <a:lstStyle/>
          <a:p>
            <a:pPr>
              <a:lnSpc>
                <a:spcPct val="150000"/>
              </a:lnSpc>
            </a:pPr>
            <a:r>
              <a:rPr lang="en-US" sz="1600" dirty="0" smtClean="0">
                <a:latin typeface="Cambria" pitchFamily="18" charset="0"/>
                <a:ea typeface="Cambria" pitchFamily="18" charset="0"/>
              </a:rPr>
              <a:t>Agricultural activities are influenced by seasonal variations in environmental conditions, farming practices, resource availability and market conditions. As a result, agricultural performance may differ from one season to another. </a:t>
            </a:r>
          </a:p>
          <a:p>
            <a:pPr>
              <a:lnSpc>
                <a:spcPct val="150000"/>
              </a:lnSpc>
            </a:pPr>
            <a:r>
              <a:rPr lang="en-US" sz="1600" dirty="0" smtClean="0">
                <a:latin typeface="Cambria" pitchFamily="18" charset="0"/>
                <a:ea typeface="Cambria" pitchFamily="18" charset="0"/>
              </a:rPr>
              <a:t>However, raw agricultural data does not clearly explain how agricultural performance changes across seasons or what patterns can be observed in different seasonal conditions. </a:t>
            </a:r>
          </a:p>
          <a:p>
            <a:pPr>
              <a:lnSpc>
                <a:spcPct val="150000"/>
              </a:lnSpc>
            </a:pPr>
            <a:r>
              <a:rPr lang="en-US" sz="1600" dirty="0" smtClean="0">
                <a:latin typeface="Cambria" pitchFamily="18" charset="0"/>
                <a:ea typeface="Cambria" pitchFamily="18" charset="0"/>
              </a:rPr>
              <a:t>The problem is to analyze the given agricultural dataset and investigate seasonal differences in agricultural performance by identifying meaningful patterns, trends, relationships and variations within the available data. </a:t>
            </a:r>
          </a:p>
          <a:p>
            <a:pPr>
              <a:lnSpc>
                <a:spcPct val="150000"/>
              </a:lnSpc>
            </a:pPr>
            <a:r>
              <a:rPr lang="en-US" sz="1600" b="1" dirty="0" smtClean="0">
                <a:latin typeface="Cambria" pitchFamily="18" charset="0"/>
                <a:ea typeface="Cambria" pitchFamily="18" charset="0"/>
              </a:rPr>
              <a:t>Importance of the Problem Statement</a:t>
            </a:r>
            <a:r>
              <a:rPr lang="en-US" sz="1600" dirty="0" smtClean="0">
                <a:latin typeface="Cambria" pitchFamily="18" charset="0"/>
                <a:ea typeface="Cambria" pitchFamily="18" charset="0"/>
              </a:rPr>
              <a:t> — grounded in your actual findings (the loss rate, the region/season mismatch, the climate-linked risk pattern) rather than generic filler.</a:t>
            </a:r>
            <a:endParaRPr lang="en-IN" sz="1600" dirty="0">
              <a:latin typeface="Cambria" pitchFamily="18" charset="0"/>
              <a:ea typeface="Cambria" pitchFamily="18" charset="0"/>
            </a:endParaRPr>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400039" y="1147576"/>
            <a:ext cx="6995604" cy="790111"/>
          </a:xfrm>
        </p:spPr>
        <p:txBody>
          <a:bodyPr>
            <a:normAutofit/>
          </a:bodyPr>
          <a:lstStyle/>
          <a:p>
            <a:r>
              <a:rPr lang="en-US" sz="3200" dirty="0">
                <a:latin typeface="Cambria" pitchFamily="18" charset="0"/>
                <a:ea typeface="Cambria" pitchFamily="18" charset="0"/>
              </a:rPr>
              <a:t>PROBLEM  STATEMENT</a:t>
            </a:r>
            <a:endParaRPr lang="en-IN" sz="3200" dirty="0">
              <a:latin typeface="Cambria" pitchFamily="18" charset="0"/>
              <a:ea typeface="Cambria" pitchFamily="18" charset="0"/>
            </a:endParaRPr>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9283308" y="3313389"/>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pic>
        <p:nvPicPr>
          <p:cNvPr id="7"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8" name="Picture 4"/>
          <p:cNvPicPr>
            <a:picLocks noChangeAspect="1" noChangeArrowheads="1"/>
          </p:cNvPicPr>
          <p:nvPr/>
        </p:nvPicPr>
        <p:blipFill>
          <a:blip r:embed="rId5"/>
          <a:srcRect/>
          <a:stretch>
            <a:fillRect/>
          </a:stretch>
        </p:blipFill>
        <p:spPr bwMode="auto">
          <a:xfrm>
            <a:off x="7794724" y="0"/>
            <a:ext cx="1625600" cy="1085850"/>
          </a:xfrm>
          <a:prstGeom prst="rect">
            <a:avLst/>
          </a:prstGeom>
          <a:noFill/>
          <a:ln w="9525">
            <a:noFill/>
            <a:miter lim="800000"/>
            <a:headEnd/>
            <a:tailEnd/>
          </a:ln>
          <a:effectLst/>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294638" y="1187598"/>
            <a:ext cx="6276109" cy="830997"/>
          </a:xfrm>
        </p:spPr>
        <p:txBody>
          <a:bodyPr>
            <a:noAutofit/>
          </a:bodyPr>
          <a:lstStyle/>
          <a:p>
            <a:r>
              <a:rPr lang="en-GB" sz="3200" dirty="0">
                <a:latin typeface="Cambria" pitchFamily="18" charset="0"/>
                <a:ea typeface="Cambria" pitchFamily="18" charset="0"/>
              </a:rPr>
              <a:t>Project Description</a:t>
            </a:r>
            <a:br>
              <a:rPr lang="en-GB" sz="3200" dirty="0">
                <a:latin typeface="Cambria" pitchFamily="18" charset="0"/>
                <a:ea typeface="Cambria" pitchFamily="18" charset="0"/>
              </a:rPr>
            </a:br>
            <a:r>
              <a:rPr lang="en-GB" sz="3200" dirty="0">
                <a:latin typeface="Cambria" pitchFamily="18" charset="0"/>
                <a:ea typeface="Cambria" pitchFamily="18" charset="0"/>
              </a:rPr>
              <a:t/>
            </a:r>
            <a:br>
              <a:rPr lang="en-GB" sz="3200" dirty="0">
                <a:latin typeface="Cambria" pitchFamily="18" charset="0"/>
                <a:ea typeface="Cambria" pitchFamily="18" charset="0"/>
              </a:rPr>
            </a:br>
            <a:endParaRPr lang="en-IN" sz="3200" dirty="0">
              <a:latin typeface="Cambria" pitchFamily="18" charset="0"/>
              <a:ea typeface="Cambria" pitchFamily="18" charset="0"/>
            </a:endParaRPr>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7" name="Picture 4"/>
          <p:cNvPicPr>
            <a:picLocks noChangeAspect="1" noChangeArrowheads="1"/>
          </p:cNvPicPr>
          <p:nvPr/>
        </p:nvPicPr>
        <p:blipFill>
          <a:blip r:embed="rId4"/>
          <a:srcRect/>
          <a:stretch>
            <a:fillRect/>
          </a:stretch>
        </p:blipFill>
        <p:spPr bwMode="auto">
          <a:xfrm>
            <a:off x="7794724" y="0"/>
            <a:ext cx="1625600" cy="1085850"/>
          </a:xfrm>
          <a:prstGeom prst="rect">
            <a:avLst/>
          </a:prstGeom>
          <a:noFill/>
          <a:ln w="9525">
            <a:noFill/>
            <a:miter lim="800000"/>
            <a:headEnd/>
            <a:tailEnd/>
          </a:ln>
          <a:effectLst/>
        </p:spPr>
      </p:pic>
      <p:pic>
        <p:nvPicPr>
          <p:cNvPr id="8" name="Picture 3"/>
          <p:cNvPicPr>
            <a:picLocks noChangeAspect="1" noChangeArrowheads="1"/>
          </p:cNvPicPr>
          <p:nvPr/>
        </p:nvPicPr>
        <p:blipFill>
          <a:blip r:embed="rId5"/>
          <a:srcRect/>
          <a:stretch>
            <a:fillRect/>
          </a:stretch>
        </p:blipFill>
        <p:spPr bwMode="auto">
          <a:xfrm>
            <a:off x="289606" y="227174"/>
            <a:ext cx="6957898" cy="929821"/>
          </a:xfrm>
          <a:prstGeom prst="rect">
            <a:avLst/>
          </a:prstGeom>
          <a:noFill/>
          <a:ln w="9525">
            <a:noFill/>
            <a:miter lim="800000"/>
            <a:headEnd/>
            <a:tailEnd/>
          </a:ln>
          <a:effectLst/>
        </p:spPr>
      </p:pic>
      <p:sp>
        <p:nvSpPr>
          <p:cNvPr id="9" name="Title 2">
            <a:extLst>
              <a:ext uri="{FF2B5EF4-FFF2-40B4-BE49-F238E27FC236}">
                <a16:creationId xmlns:a16="http://schemas.microsoft.com/office/drawing/2014/main" xmlns="" id="{EBF2FBC7-3552-4F01-BB27-8BEEE74F7277}"/>
              </a:ext>
            </a:extLst>
          </p:cNvPr>
          <p:cNvSpPr txBox="1">
            <a:spLocks/>
          </p:cNvSpPr>
          <p:nvPr/>
        </p:nvSpPr>
        <p:spPr>
          <a:xfrm>
            <a:off x="297409" y="1689132"/>
            <a:ext cx="11523289" cy="4362534"/>
          </a:xfrm>
          <a:prstGeom prst="rect">
            <a:avLst/>
          </a:prstGeom>
        </p:spPr>
        <p:txBody>
          <a:bodyPr vert="horz" lIns="91440" tIns="45720" rIns="91440" bIns="45720" rtlCol="0" anchor="t">
            <a:noAutofit/>
          </a:bodyPr>
          <a:lstStyle/>
          <a:p>
            <a:pPr lvl="0">
              <a:spcBef>
                <a:spcPct val="0"/>
              </a:spcBef>
            </a:pPr>
            <a:r>
              <a:rPr lang="en-US" sz="1600" dirty="0" smtClean="0">
                <a:latin typeface="Cambria" pitchFamily="18" charset="0"/>
                <a:ea typeface="Cambria" pitchFamily="18" charset="0"/>
              </a:rPr>
              <a:t>This project will be carried out on an agricultural data set at farm level consisting of </a:t>
            </a:r>
            <a:r>
              <a:rPr lang="en-US" sz="1600" b="1" dirty="0" smtClean="0">
                <a:latin typeface="Cambria" pitchFamily="18" charset="0"/>
                <a:ea typeface="Cambria" pitchFamily="18" charset="0"/>
              </a:rPr>
              <a:t>4,000 data entries from 8 states of India </a:t>
            </a:r>
            <a:r>
              <a:rPr lang="en-US" sz="1600" dirty="0" smtClean="0">
                <a:latin typeface="Cambria" pitchFamily="18" charset="0"/>
                <a:ea typeface="Cambria" pitchFamily="18" charset="0"/>
              </a:rPr>
              <a:t>(Andhra Pradesh, Gujarat, Karnataka, Madhya Pradesh, Maharashtra, Punjab, Tamil Nadu, and </a:t>
            </a:r>
            <a:r>
              <a:rPr lang="en-US" sz="1600" dirty="0" err="1" smtClean="0">
                <a:latin typeface="Cambria" pitchFamily="18" charset="0"/>
                <a:ea typeface="Cambria" pitchFamily="18" charset="0"/>
              </a:rPr>
              <a:t>Telangana</a:t>
            </a:r>
            <a:r>
              <a:rPr lang="en-US" sz="1600" dirty="0" smtClean="0">
                <a:latin typeface="Cambria" pitchFamily="18" charset="0"/>
                <a:ea typeface="Cambria" pitchFamily="18" charset="0"/>
              </a:rPr>
              <a:t>), </a:t>
            </a:r>
            <a:r>
              <a:rPr lang="en-US" sz="1600" b="1" dirty="0" smtClean="0">
                <a:latin typeface="Cambria" pitchFamily="18" charset="0"/>
                <a:ea typeface="Cambria" pitchFamily="18" charset="0"/>
              </a:rPr>
              <a:t>8 different crops </a:t>
            </a:r>
            <a:r>
              <a:rPr lang="en-US" sz="1600" dirty="0" smtClean="0">
                <a:latin typeface="Cambria" pitchFamily="18" charset="0"/>
                <a:ea typeface="Cambria" pitchFamily="18" charset="0"/>
              </a:rPr>
              <a:t>(Wheat, Rice, Maize, Pulses, Cotton, </a:t>
            </a:r>
            <a:r>
              <a:rPr lang="en-US" sz="1600" dirty="0" err="1" smtClean="0">
                <a:latin typeface="Cambria" pitchFamily="18" charset="0"/>
                <a:ea typeface="Cambria" pitchFamily="18" charset="0"/>
              </a:rPr>
              <a:t>Chilli</a:t>
            </a:r>
            <a:r>
              <a:rPr lang="en-US" sz="1600" dirty="0" smtClean="0">
                <a:latin typeface="Cambria" pitchFamily="18" charset="0"/>
                <a:ea typeface="Cambria" pitchFamily="18" charset="0"/>
              </a:rPr>
              <a:t>, Groundnut, and Sugarcane) and </a:t>
            </a:r>
            <a:r>
              <a:rPr lang="en-US" sz="1600" b="1" dirty="0" smtClean="0">
                <a:latin typeface="Cambria" pitchFamily="18" charset="0"/>
                <a:ea typeface="Cambria" pitchFamily="18" charset="0"/>
              </a:rPr>
              <a:t>3 seasons of cropping </a:t>
            </a:r>
            <a:r>
              <a:rPr lang="en-US" sz="1600" dirty="0" smtClean="0">
                <a:latin typeface="Cambria" pitchFamily="18" charset="0"/>
                <a:ea typeface="Cambria" pitchFamily="18" charset="0"/>
              </a:rPr>
              <a:t>(</a:t>
            </a:r>
            <a:r>
              <a:rPr lang="en-US" sz="1600" dirty="0" err="1" smtClean="0">
                <a:latin typeface="Cambria" pitchFamily="18" charset="0"/>
                <a:ea typeface="Cambria" pitchFamily="18" charset="0"/>
              </a:rPr>
              <a:t>Kharif</a:t>
            </a:r>
            <a:r>
              <a:rPr lang="en-US" sz="1600" dirty="0" smtClean="0">
                <a:latin typeface="Cambria" pitchFamily="18" charset="0"/>
                <a:ea typeface="Cambria" pitchFamily="18" charset="0"/>
              </a:rPr>
              <a:t>, Rabi, and </a:t>
            </a:r>
            <a:r>
              <a:rPr lang="en-US" sz="1600" dirty="0" err="1" smtClean="0">
                <a:latin typeface="Cambria" pitchFamily="18" charset="0"/>
                <a:ea typeface="Cambria" pitchFamily="18" charset="0"/>
              </a:rPr>
              <a:t>Zaid</a:t>
            </a:r>
            <a:r>
              <a:rPr lang="en-US" sz="1600" dirty="0" smtClean="0">
                <a:latin typeface="Cambria" pitchFamily="18" charset="0"/>
                <a:ea typeface="Cambria" pitchFamily="18" charset="0"/>
              </a:rPr>
              <a:t>). This data entry contains various environmental inputs (rainfall, temperature, humidity, sunlight, soil pH/soil moisture), inputs used (type of irrigation, fertilizers, pesticides, seeds, NPK nutrients) and performance measures (yield, production, price, cost,</a:t>
            </a:r>
          </a:p>
          <a:p>
            <a:pPr lvl="0">
              <a:spcBef>
                <a:spcPct val="0"/>
              </a:spcBef>
            </a:pPr>
            <a:endParaRPr lang="en-US" sz="1600" dirty="0" smtClean="0">
              <a:latin typeface="Cambria" pitchFamily="18" charset="0"/>
              <a:ea typeface="Cambria" pitchFamily="18" charset="0"/>
            </a:endParaRPr>
          </a:p>
          <a:p>
            <a:pPr lvl="0">
              <a:spcBef>
                <a:spcPct val="0"/>
              </a:spcBef>
            </a:pPr>
            <a:r>
              <a:rPr lang="en-US" sz="1600" dirty="0" smtClean="0">
                <a:latin typeface="Cambria" pitchFamily="18" charset="0"/>
                <a:ea typeface="Cambria" pitchFamily="18" charset="0"/>
              </a:rPr>
              <a:t>The primary aim is to transcend from a general </a:t>
            </a:r>
            <a:r>
              <a:rPr lang="en-US" sz="1600" b="1" dirty="0" smtClean="0">
                <a:latin typeface="Cambria" pitchFamily="18" charset="0"/>
                <a:ea typeface="Cambria" pitchFamily="18" charset="0"/>
              </a:rPr>
              <a:t>exploratory data analysis </a:t>
            </a:r>
            <a:r>
              <a:rPr lang="en-US" sz="1600" dirty="0" smtClean="0">
                <a:latin typeface="Cambria" pitchFamily="18" charset="0"/>
                <a:ea typeface="Cambria" pitchFamily="18" charset="0"/>
              </a:rPr>
              <a:t>to a specific question, that is how and why agriculture differs seasonally and if there are any discernible patterns which may be utilized for seasonal planning. The current notebook covers aspects such as data cleaning (eliminating duplicates, median imputation), descriptive statistics, analysis of </a:t>
            </a:r>
            <a:r>
              <a:rPr lang="en-US" sz="1600" dirty="0" err="1" smtClean="0">
                <a:latin typeface="Cambria" pitchFamily="18" charset="0"/>
                <a:ea typeface="Cambria" pitchFamily="18" charset="0"/>
              </a:rPr>
              <a:t>univariate</a:t>
            </a:r>
            <a:r>
              <a:rPr lang="en-US" sz="1600" dirty="0" smtClean="0">
                <a:latin typeface="Cambria" pitchFamily="18" charset="0"/>
                <a:ea typeface="Cambria" pitchFamily="18" charset="0"/>
              </a:rPr>
              <a:t> distributions, outlier detection using QR method, </a:t>
            </a:r>
            <a:r>
              <a:rPr lang="en-US" sz="1600" dirty="0" err="1" smtClean="0">
                <a:latin typeface="Cambria" pitchFamily="18" charset="0"/>
                <a:ea typeface="Cambria" pitchFamily="18" charset="0"/>
              </a:rPr>
              <a:t>bivariate</a:t>
            </a:r>
            <a:r>
              <a:rPr lang="en-US" sz="1600" dirty="0" smtClean="0">
                <a:latin typeface="Cambria" pitchFamily="18" charset="0"/>
                <a:ea typeface="Cambria" pitchFamily="18" charset="0"/>
              </a:rPr>
              <a:t> comparison (season vs. yield/profit/water), multivariate analysis (</a:t>
            </a:r>
            <a:r>
              <a:rPr lang="en-US" sz="1600" dirty="0" err="1" smtClean="0">
                <a:latin typeface="Cambria" pitchFamily="18" charset="0"/>
                <a:ea typeface="Cambria" pitchFamily="18" charset="0"/>
              </a:rPr>
              <a:t>cropxseason</a:t>
            </a:r>
            <a:r>
              <a:rPr lang="en-US" sz="1600" dirty="0" smtClean="0">
                <a:latin typeface="Cambria" pitchFamily="18" charset="0"/>
                <a:ea typeface="Cambria" pitchFamily="18" charset="0"/>
              </a:rPr>
              <a:t>, </a:t>
            </a:r>
            <a:r>
              <a:rPr lang="en-US" sz="1600" dirty="0" err="1" smtClean="0">
                <a:latin typeface="Cambria" pitchFamily="18" charset="0"/>
                <a:ea typeface="Cambria" pitchFamily="18" charset="0"/>
              </a:rPr>
              <a:t>irrigationxseason</a:t>
            </a:r>
            <a:r>
              <a:rPr lang="en-US" sz="1600" dirty="0" smtClean="0">
                <a:latin typeface="Cambria" pitchFamily="18" charset="0"/>
                <a:ea typeface="Cambria" pitchFamily="18" charset="0"/>
              </a:rPr>
              <a:t>, correlation </a:t>
            </a:r>
            <a:r>
              <a:rPr lang="en-US" sz="1600" dirty="0" err="1" smtClean="0">
                <a:latin typeface="Cambria" pitchFamily="18" charset="0"/>
                <a:ea typeface="Cambria" pitchFamily="18" charset="0"/>
              </a:rPr>
              <a:t>heatmap</a:t>
            </a:r>
            <a:r>
              <a:rPr lang="en-US" sz="1600" dirty="0" smtClean="0">
                <a:latin typeface="Cambria" pitchFamily="18" charset="0"/>
                <a:ea typeface="Cambria" pitchFamily="18" charset="0"/>
              </a:rPr>
              <a:t>). In addition to this documentation covers any </a:t>
            </a:r>
            <a:r>
              <a:rPr lang="en-US" sz="1600" b="1" dirty="0" smtClean="0">
                <a:latin typeface="Cambria" pitchFamily="18" charset="0"/>
                <a:ea typeface="Cambria" pitchFamily="18" charset="0"/>
              </a:rPr>
              <a:t>untouched analytical </a:t>
            </a:r>
            <a:r>
              <a:rPr lang="en-US" sz="1600" dirty="0" smtClean="0">
                <a:latin typeface="Cambria" pitchFamily="18" charset="0"/>
                <a:ea typeface="Cambria" pitchFamily="18" charset="0"/>
              </a:rPr>
              <a:t>aspect (regional, risk and economic depth analysis) and extracts </a:t>
            </a:r>
            <a:r>
              <a:rPr lang="en-US" sz="1600" b="1" dirty="0" smtClean="0">
                <a:latin typeface="Cambria" pitchFamily="18" charset="0"/>
                <a:ea typeface="Cambria" pitchFamily="18" charset="0"/>
              </a:rPr>
              <a:t>insights from the analysis.</a:t>
            </a:r>
          </a:p>
          <a:p>
            <a:pPr lvl="0">
              <a:spcBef>
                <a:spcPct val="0"/>
              </a:spcBef>
            </a:pPr>
            <a:endParaRPr lang="en-US" sz="1600" dirty="0" smtClean="0">
              <a:latin typeface="Cambria" pitchFamily="18" charset="0"/>
              <a:ea typeface="Cambria" pitchFamily="18" charset="0"/>
            </a:endParaRPr>
          </a:p>
          <a:p>
            <a:pPr lvl="0">
              <a:spcBef>
                <a:spcPct val="0"/>
              </a:spcBef>
            </a:pPr>
            <a:r>
              <a:rPr lang="en-US" sz="1600" dirty="0" smtClean="0">
                <a:latin typeface="Cambria" pitchFamily="18" charset="0"/>
                <a:ea typeface="Cambria" pitchFamily="18" charset="0"/>
              </a:rPr>
              <a:t>It is the place where </a:t>
            </a:r>
            <a:r>
              <a:rPr lang="en-US" sz="1600" b="1" dirty="0" smtClean="0">
                <a:latin typeface="Cambria" pitchFamily="18" charset="0"/>
                <a:ea typeface="Cambria" pitchFamily="18" charset="0"/>
              </a:rPr>
              <a:t>agricultural economics meets applied data analysis </a:t>
            </a:r>
            <a:r>
              <a:rPr lang="en-US" sz="1600" dirty="0" smtClean="0">
                <a:latin typeface="Cambria" pitchFamily="18" charset="0"/>
                <a:ea typeface="Cambria" pitchFamily="18" charset="0"/>
              </a:rPr>
              <a:t>– each farmer observation is taken as one sample, the seasonal segmentation is used as the main approach, and regional segmentation, crop types, and watering approaches are secondary approaches which will answer the question about why the seasons differ (as one cannot say that a season itself is bad, it is bad because of its crops, water scarcity, prices etc.).</a:t>
            </a:r>
            <a:endParaRPr kumimoji="0" lang="en-IN" sz="1600" b="1" i="0" u="none" strike="noStrike" kern="1200" cap="none" spc="0" normalizeH="0" baseline="0" noProof="0" dirty="0">
              <a:ln>
                <a:noFill/>
              </a:ln>
              <a:solidFill>
                <a:schemeClr val="tx1"/>
              </a:solidFill>
              <a:effectLst/>
              <a:uLnTx/>
              <a:uFillTx/>
              <a:latin typeface="Cambria" pitchFamily="18" charset="0"/>
              <a:ea typeface="Cambria" pitchFamily="18" charset="0"/>
              <a:cs typeface="+mj-cs"/>
            </a:endParaRPr>
          </a:p>
        </p:txBody>
      </p:sp>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2631233" y="2341984"/>
            <a:ext cx="6787086" cy="4334024"/>
          </a:xfrm>
        </p:spPr>
        <p:txBody>
          <a:bodyPr>
            <a:normAutofit fontScale="92500" lnSpcReduction="10000"/>
          </a:bodyPr>
          <a:lstStyle/>
          <a:p>
            <a:pPr lvl="1">
              <a:lnSpc>
                <a:spcPct val="150000"/>
              </a:lnSpc>
            </a:pPr>
            <a:r>
              <a:rPr lang="en-US" b="1" dirty="0" smtClean="0">
                <a:latin typeface="Cambria" pitchFamily="18" charset="0"/>
                <a:ea typeface="Cambria" pitchFamily="18" charset="0"/>
              </a:rPr>
              <a:t>Language:</a:t>
            </a:r>
            <a:r>
              <a:rPr lang="en-US" dirty="0" smtClean="0">
                <a:latin typeface="Cambria" pitchFamily="18" charset="0"/>
                <a:ea typeface="Cambria" pitchFamily="18" charset="0"/>
              </a:rPr>
              <a:t> Python </a:t>
            </a:r>
          </a:p>
          <a:p>
            <a:pPr lvl="1">
              <a:lnSpc>
                <a:spcPct val="150000"/>
              </a:lnSpc>
            </a:pPr>
            <a:r>
              <a:rPr lang="en-US" dirty="0" smtClean="0">
                <a:latin typeface="Cambria" pitchFamily="18" charset="0"/>
                <a:ea typeface="Cambria" pitchFamily="18" charset="0"/>
              </a:rPr>
              <a:t> </a:t>
            </a:r>
            <a:r>
              <a:rPr lang="en-US" b="1" dirty="0" smtClean="0">
                <a:latin typeface="Cambria" pitchFamily="18" charset="0"/>
                <a:ea typeface="Cambria" pitchFamily="18" charset="0"/>
              </a:rPr>
              <a:t>Data handling:</a:t>
            </a:r>
            <a:r>
              <a:rPr lang="en-US" dirty="0" smtClean="0">
                <a:latin typeface="Cambria" pitchFamily="18" charset="0"/>
                <a:ea typeface="Cambria" pitchFamily="18" charset="0"/>
              </a:rPr>
              <a:t> Pandas, </a:t>
            </a:r>
            <a:r>
              <a:rPr lang="en-US" dirty="0" err="1" smtClean="0">
                <a:latin typeface="Cambria" pitchFamily="18" charset="0"/>
                <a:ea typeface="Cambria" pitchFamily="18" charset="0"/>
              </a:rPr>
              <a:t>NumPy</a:t>
            </a:r>
            <a:r>
              <a:rPr lang="en-US" dirty="0" smtClean="0">
                <a:latin typeface="Cambria" pitchFamily="18" charset="0"/>
                <a:ea typeface="Cambria" pitchFamily="18" charset="0"/>
              </a:rPr>
              <a:t> </a:t>
            </a:r>
          </a:p>
          <a:p>
            <a:pPr lvl="1">
              <a:lnSpc>
                <a:spcPct val="150000"/>
              </a:lnSpc>
            </a:pPr>
            <a:r>
              <a:rPr lang="en-US" b="1" dirty="0" smtClean="0">
                <a:latin typeface="Cambria" pitchFamily="18" charset="0"/>
                <a:ea typeface="Cambria" pitchFamily="18" charset="0"/>
              </a:rPr>
              <a:t>Visualization:</a:t>
            </a:r>
            <a:r>
              <a:rPr lang="en-US" dirty="0" smtClean="0">
                <a:latin typeface="Cambria" pitchFamily="18" charset="0"/>
                <a:ea typeface="Cambria" pitchFamily="18" charset="0"/>
              </a:rPr>
              <a:t> </a:t>
            </a:r>
            <a:r>
              <a:rPr lang="en-US" dirty="0" err="1" smtClean="0">
                <a:latin typeface="Cambria" pitchFamily="18" charset="0"/>
                <a:ea typeface="Cambria" pitchFamily="18" charset="0"/>
              </a:rPr>
              <a:t>Matplotlib</a:t>
            </a:r>
            <a:r>
              <a:rPr lang="en-US" dirty="0" smtClean="0">
                <a:latin typeface="Cambria" pitchFamily="18" charset="0"/>
                <a:ea typeface="Cambria" pitchFamily="18" charset="0"/>
              </a:rPr>
              <a:t>, </a:t>
            </a:r>
            <a:r>
              <a:rPr lang="en-US" dirty="0" err="1" smtClean="0">
                <a:latin typeface="Cambria" pitchFamily="18" charset="0"/>
                <a:ea typeface="Cambria" pitchFamily="18" charset="0"/>
              </a:rPr>
              <a:t>Seaborn</a:t>
            </a:r>
            <a:r>
              <a:rPr lang="en-US" dirty="0" smtClean="0">
                <a:latin typeface="Cambria" pitchFamily="18" charset="0"/>
                <a:ea typeface="Cambria" pitchFamily="18" charset="0"/>
              </a:rPr>
              <a:t> </a:t>
            </a:r>
          </a:p>
          <a:p>
            <a:pPr lvl="1">
              <a:lnSpc>
                <a:spcPct val="150000"/>
              </a:lnSpc>
            </a:pPr>
            <a:r>
              <a:rPr lang="en-US" b="1" dirty="0" smtClean="0">
                <a:latin typeface="Cambria" pitchFamily="18" charset="0"/>
                <a:ea typeface="Cambria" pitchFamily="18" charset="0"/>
              </a:rPr>
              <a:t>Environment:</a:t>
            </a:r>
            <a:r>
              <a:rPr lang="en-US" dirty="0" smtClean="0">
                <a:latin typeface="Cambria" pitchFamily="18" charset="0"/>
                <a:ea typeface="Cambria" pitchFamily="18" charset="0"/>
              </a:rPr>
              <a:t> </a:t>
            </a:r>
            <a:r>
              <a:rPr lang="en-US" dirty="0" err="1" smtClean="0">
                <a:latin typeface="Cambria" pitchFamily="18" charset="0"/>
                <a:ea typeface="Cambria" pitchFamily="18" charset="0"/>
              </a:rPr>
              <a:t>Jupyter</a:t>
            </a:r>
            <a:r>
              <a:rPr lang="en-US" dirty="0" smtClean="0">
                <a:latin typeface="Cambria" pitchFamily="18" charset="0"/>
                <a:ea typeface="Cambria" pitchFamily="18" charset="0"/>
              </a:rPr>
              <a:t> Notebook </a:t>
            </a:r>
          </a:p>
          <a:p>
            <a:pPr lvl="1">
              <a:lnSpc>
                <a:spcPct val="150000"/>
              </a:lnSpc>
            </a:pPr>
            <a:r>
              <a:rPr lang="en-US" b="1" dirty="0" smtClean="0">
                <a:latin typeface="Cambria" pitchFamily="18" charset="0"/>
                <a:ea typeface="Cambria" pitchFamily="18" charset="0"/>
              </a:rPr>
              <a:t>Statistical methods:</a:t>
            </a:r>
            <a:r>
              <a:rPr lang="en-US" dirty="0" smtClean="0">
                <a:latin typeface="Cambria" pitchFamily="18" charset="0"/>
                <a:ea typeface="Cambria" pitchFamily="18" charset="0"/>
              </a:rPr>
              <a:t> Descriptive statistics (mean/median/std/IQR), IQR-based outlier detection, Pearson correlation analysis, </a:t>
            </a:r>
            <a:r>
              <a:rPr lang="en-US" dirty="0" err="1" smtClean="0">
                <a:latin typeface="Cambria" pitchFamily="18" charset="0"/>
                <a:ea typeface="Cambria" pitchFamily="18" charset="0"/>
              </a:rPr>
              <a:t>groupby</a:t>
            </a:r>
            <a:r>
              <a:rPr lang="en-US" dirty="0" smtClean="0">
                <a:latin typeface="Cambria" pitchFamily="18" charset="0"/>
                <a:ea typeface="Cambria" pitchFamily="18" charset="0"/>
              </a:rPr>
              <a:t>-based aggregation for cross-tabulated comparisons (season × crop, season × region, season × irrigation)</a:t>
            </a:r>
            <a:endParaRPr lang="en-IN" dirty="0">
              <a:latin typeface="Cambria" pitchFamily="18" charset="0"/>
              <a:ea typeface="Cambria" pitchFamily="18" charset="0"/>
            </a:endParaRPr>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585754" y="1288983"/>
            <a:ext cx="5306291" cy="847817"/>
          </a:xfrm>
        </p:spPr>
        <p:txBody>
          <a:bodyPr>
            <a:normAutofit/>
          </a:bodyPr>
          <a:lstStyle/>
          <a:p>
            <a:r>
              <a:rPr lang="en-US" dirty="0" smtClean="0">
                <a:latin typeface="Cambria" pitchFamily="18" charset="0"/>
                <a:ea typeface="Cambria" pitchFamily="18" charset="0"/>
              </a:rPr>
              <a:t>Technology </a:t>
            </a:r>
            <a:r>
              <a:rPr lang="en-US" dirty="0">
                <a:latin typeface="Cambria" pitchFamily="18" charset="0"/>
                <a:ea typeface="Cambria" pitchFamily="18" charset="0"/>
              </a:rPr>
              <a:t>Used</a:t>
            </a:r>
          </a:p>
        </p:txBody>
      </p:sp>
      <p:pic>
        <p:nvPicPr>
          <p:cNvPr id="8" name="Picture 4"/>
          <p:cNvPicPr>
            <a:picLocks noChangeAspect="1" noChangeArrowheads="1"/>
          </p:cNvPicPr>
          <p:nvPr/>
        </p:nvPicPr>
        <p:blipFill>
          <a:blip r:embed="rId5"/>
          <a:srcRect/>
          <a:stretch>
            <a:fillRect/>
          </a:stretch>
        </p:blipFill>
        <p:spPr bwMode="auto">
          <a:xfrm>
            <a:off x="7794724" y="0"/>
            <a:ext cx="1625600" cy="1085850"/>
          </a:xfrm>
          <a:prstGeom prst="rect">
            <a:avLst/>
          </a:prstGeom>
          <a:noFill/>
          <a:ln w="9525">
            <a:noFill/>
            <a:miter lim="800000"/>
            <a:headEnd/>
            <a:tailEnd/>
          </a:ln>
          <a:effectLst/>
        </p:spPr>
      </p:pic>
      <p:pic>
        <p:nvPicPr>
          <p:cNvPr id="10" name="Picture 3"/>
          <p:cNvPicPr>
            <a:picLocks noChangeAspect="1" noChangeArrowheads="1"/>
          </p:cNvPicPr>
          <p:nvPr/>
        </p:nvPicPr>
        <p:blipFill>
          <a:blip r:embed="rId6"/>
          <a:srcRect/>
          <a:stretch>
            <a:fillRect/>
          </a:stretch>
        </p:blipFill>
        <p:spPr bwMode="auto">
          <a:xfrm>
            <a:off x="289606" y="227174"/>
            <a:ext cx="6957898" cy="929821"/>
          </a:xfrm>
          <a:prstGeom prst="rect">
            <a:avLst/>
          </a:prstGeom>
          <a:noFill/>
          <a:ln w="9525">
            <a:noFill/>
            <a:miter lim="800000"/>
            <a:headEnd/>
            <a:tailEnd/>
          </a:ln>
          <a:effectLst/>
        </p:spPr>
      </p:pic>
      <p:pic>
        <p:nvPicPr>
          <p:cNvPr id="7170" name="Picture 2"/>
          <p:cNvPicPr>
            <a:picLocks noChangeAspect="1" noChangeArrowheads="1"/>
          </p:cNvPicPr>
          <p:nvPr/>
        </p:nvPicPr>
        <p:blipFill>
          <a:blip r:embed="rId7"/>
          <a:srcRect/>
          <a:stretch>
            <a:fillRect/>
          </a:stretch>
        </p:blipFill>
        <p:spPr bwMode="auto">
          <a:xfrm>
            <a:off x="2591546" y="2378660"/>
            <a:ext cx="543540" cy="471952"/>
          </a:xfrm>
          <a:prstGeom prst="rect">
            <a:avLst/>
          </a:prstGeom>
          <a:noFill/>
          <a:ln w="9525">
            <a:noFill/>
            <a:miter lim="800000"/>
            <a:headEnd/>
            <a:tailEnd/>
          </a:ln>
          <a:effectLst/>
        </p:spPr>
      </p:pic>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573355" y="1249842"/>
            <a:ext cx="10046070" cy="802641"/>
          </a:xfrm>
        </p:spPr>
        <p:txBody>
          <a:bodyPr>
            <a:normAutofit/>
          </a:bodyPr>
          <a:lstStyle/>
          <a:p>
            <a:r>
              <a:rPr lang="en-US" sz="3200" dirty="0">
                <a:latin typeface="Cambria" pitchFamily="18" charset="0"/>
                <a:ea typeface="Cambria" pitchFamily="18" charset="0"/>
              </a:rPr>
              <a:t>WHO ARE THE END USERS?</a:t>
            </a:r>
            <a:endParaRPr lang="en-IN" sz="2000" dirty="0">
              <a:latin typeface="Cambria" pitchFamily="18" charset="0"/>
              <a:ea typeface="Cambria" pitchFamily="18" charset="0"/>
            </a:endParaRPr>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pic>
        <p:nvPicPr>
          <p:cNvPr id="5"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7"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graphicFrame>
        <p:nvGraphicFramePr>
          <p:cNvPr id="8" name="Table 7"/>
          <p:cNvGraphicFramePr>
            <a:graphicFrameLocks noGrp="1"/>
          </p:cNvGraphicFramePr>
          <p:nvPr/>
        </p:nvGraphicFramePr>
        <p:xfrm>
          <a:off x="604416" y="1951307"/>
          <a:ext cx="10667642" cy="4532620"/>
        </p:xfrm>
        <a:graphic>
          <a:graphicData uri="http://schemas.openxmlformats.org/drawingml/2006/table">
            <a:tbl>
              <a:tblPr firstRow="1" bandRow="1">
                <a:tableStyleId>{7E9639D4-E3E2-4D34-9284-5A2195B3D0D7}</a:tableStyleId>
              </a:tblPr>
              <a:tblGrid>
                <a:gridCol w="3236851"/>
                <a:gridCol w="7430791"/>
              </a:tblGrid>
              <a:tr h="491605">
                <a:tc>
                  <a:txBody>
                    <a:bodyPr/>
                    <a:lstStyle/>
                    <a:p>
                      <a:r>
                        <a:rPr lang="en-US" dirty="0"/>
                        <a:t>End User</a:t>
                      </a:r>
                    </a:p>
                  </a:txBody>
                  <a:tcPr anchor="ctr"/>
                </a:tc>
                <a:tc>
                  <a:txBody>
                    <a:bodyPr/>
                    <a:lstStyle/>
                    <a:p>
                      <a:r>
                        <a:rPr lang="en-IN" dirty="0" smtClean="0"/>
                        <a:t>How they did Use the analysis</a:t>
                      </a:r>
                      <a:endParaRPr lang="en-US" dirty="0"/>
                    </a:p>
                  </a:txBody>
                  <a:tcPr/>
                </a:tc>
              </a:tr>
              <a:tr h="93205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Individual/smallholder farmers</a:t>
                      </a:r>
                      <a:endParaRPr lang="en-US" dirty="0"/>
                    </a:p>
                  </a:txBody>
                  <a:tcPr/>
                </a:tc>
                <a:tc>
                  <a:txBody>
                    <a:bodyPr/>
                    <a:lstStyle/>
                    <a:p>
                      <a:r>
                        <a:rPr lang="en-US" dirty="0" smtClean="0"/>
                        <a:t>Decide which crop-season combination historical </a:t>
                      </a:r>
                      <a:r>
                        <a:rPr lang="en-US" dirty="0" err="1" smtClean="0"/>
                        <a:t>ly</a:t>
                      </a:r>
                      <a:r>
                        <a:rPr lang="en-US" dirty="0" smtClean="0"/>
                        <a:t> yields better returns; anticipate disease/pest risk by season to plan preventive spend. </a:t>
                      </a:r>
                      <a:endParaRPr lang="en-US" dirty="0"/>
                    </a:p>
                  </a:txBody>
                  <a:tcPr/>
                </a:tc>
              </a:tr>
              <a:tr h="491605">
                <a:tc>
                  <a:txBody>
                    <a:bodyPr/>
                    <a:lstStyle/>
                    <a:p>
                      <a:r>
                        <a:rPr lang="en-US" dirty="0" smtClean="0"/>
                        <a:t>State agriculture departments / extension officers</a:t>
                      </a:r>
                      <a:endParaRPr lang="en-US" dirty="0"/>
                    </a:p>
                  </a:txBody>
                  <a:tcPr/>
                </a:tc>
                <a:tc>
                  <a:txBody>
                    <a:bodyPr/>
                    <a:lstStyle/>
                    <a:p>
                      <a:r>
                        <a:rPr lang="en-IN" dirty="0" smtClean="0"/>
                        <a:t>U</a:t>
                      </a:r>
                      <a:r>
                        <a:rPr lang="en-US" dirty="0" smtClean="0"/>
                        <a:t>se regional performance gaps (e.g., Punjab vs. Andhra Pradesh) to target subsidies, advisories, or irrigation infrastructure investment.</a:t>
                      </a:r>
                      <a:endParaRPr lang="en-US" dirty="0"/>
                    </a:p>
                  </a:txBody>
                  <a:tcPr/>
                </a:tc>
              </a:tr>
              <a:tr h="491605">
                <a:tc>
                  <a:txBody>
                    <a:bodyPr/>
                    <a:lstStyle/>
                    <a:p>
                      <a:r>
                        <a:rPr lang="en-IN" dirty="0" smtClean="0"/>
                        <a:t>A</a:t>
                      </a:r>
                      <a:r>
                        <a:rPr lang="en-US" dirty="0" err="1" smtClean="0"/>
                        <a:t>gri</a:t>
                      </a:r>
                      <a:r>
                        <a:rPr lang="en-US" dirty="0" smtClean="0"/>
                        <a:t>-input companies (seed, fertilizer, irrigation equipment)</a:t>
                      </a:r>
                      <a:endParaRPr lang="en-US" dirty="0"/>
                    </a:p>
                  </a:txBody>
                  <a:tcPr/>
                </a:tc>
                <a:tc>
                  <a:txBody>
                    <a:bodyPr/>
                    <a:lstStyle/>
                    <a:p>
                      <a:r>
                        <a:rPr lang="en-US" dirty="0" smtClean="0"/>
                        <a:t>Identify which regions/seasons show inefficient input use (e.g., Flood irrigation's poor water efficiency) as a market opportunity for drip/sprinkler products.</a:t>
                      </a:r>
                      <a:endParaRPr lang="en-US" dirty="0"/>
                    </a:p>
                  </a:txBody>
                  <a:tcPr/>
                </a:tc>
              </a:tr>
              <a:tr h="491605">
                <a:tc>
                  <a:txBody>
                    <a:bodyPr/>
                    <a:lstStyle/>
                    <a:p>
                      <a:r>
                        <a:rPr lang="en-US" dirty="0" smtClean="0"/>
                        <a:t>NGOs / agricultural researchers</a:t>
                      </a:r>
                      <a:endParaRPr lang="en-US" dirty="0"/>
                    </a:p>
                  </a:txBody>
                  <a:tcPr/>
                </a:tc>
                <a:tc>
                  <a:txBody>
                    <a:bodyPr/>
                    <a:lstStyle/>
                    <a:p>
                      <a:r>
                        <a:rPr lang="en-US" dirty="0" smtClean="0"/>
                        <a:t>Study seasonal and regional disparities to design interventions (water-use training, price-risk hedging awareness).</a:t>
                      </a:r>
                      <a:endParaRPr lang="en-US" dirty="0"/>
                    </a:p>
                  </a:txBody>
                  <a:tcPr/>
                </a:tc>
              </a:tr>
              <a:tr h="491605">
                <a:tc>
                  <a:txBody>
                    <a:bodyPr/>
                    <a:lstStyle/>
                    <a:p>
                      <a:r>
                        <a:rPr lang="en-IN" dirty="0" smtClean="0"/>
                        <a:t>C</a:t>
                      </a:r>
                      <a:r>
                        <a:rPr lang="en-US" dirty="0" err="1" smtClean="0"/>
                        <a:t>ommodity</a:t>
                      </a:r>
                      <a:r>
                        <a:rPr lang="en-US" dirty="0" smtClean="0"/>
                        <a:t> traders/market analysts</a:t>
                      </a:r>
                      <a:endParaRPr lang="en-US" dirty="0"/>
                    </a:p>
                  </a:txBody>
                  <a:tcPr/>
                </a:tc>
                <a:tc>
                  <a:txBody>
                    <a:bodyPr/>
                    <a:lstStyle/>
                    <a:p>
                      <a:r>
                        <a:rPr lang="en-IN" dirty="0" smtClean="0"/>
                        <a:t>A</a:t>
                      </a:r>
                      <a:r>
                        <a:rPr lang="en-US" dirty="0" err="1" smtClean="0"/>
                        <a:t>nticipate</a:t>
                      </a:r>
                      <a:r>
                        <a:rPr lang="en-US" dirty="0" smtClean="0"/>
                        <a:t> production volume shifts across seasons to inform pricing and procurement timing.</a:t>
                      </a:r>
                      <a:endParaRPr lang="en-US" dirty="0"/>
                    </a:p>
                  </a:txBody>
                  <a:tcPr/>
                </a:tc>
              </a:tr>
            </a:tbl>
          </a:graphicData>
        </a:graphic>
      </p:graphicFrame>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49385" y="1219675"/>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452600" y="1776926"/>
            <a:ext cx="5649620" cy="477520"/>
          </a:xfrm>
        </p:spPr>
        <p:txBody>
          <a:bodyPr vert="horz" lIns="91440" tIns="45720" rIns="91440" bIns="45720" rtlCol="0" anchor="t">
            <a:noAutofit/>
          </a:bodyPr>
          <a:lstStyle/>
          <a:p>
            <a:pPr marL="0" indent="0">
              <a:buNone/>
            </a:pPr>
            <a:r>
              <a:rPr lang="en-US" sz="1600" b="1" dirty="0" smtClean="0">
                <a:latin typeface="Cambria" pitchFamily="18" charset="0"/>
                <a:ea typeface="Cambria" pitchFamily="18" charset="0"/>
              </a:rPr>
              <a:t>Q1: How are records distributed across seasons?</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a:t>
            </a:r>
            <a:r>
              <a:rPr lang="en-US" sz="1600" dirty="0" err="1" smtClean="0">
                <a:latin typeface="Cambria" pitchFamily="18" charset="0"/>
                <a:ea typeface="Cambria" pitchFamily="18" charset="0"/>
              </a:rPr>
              <a:t>Kharif</a:t>
            </a:r>
            <a:r>
              <a:rPr lang="en-US" sz="1600" dirty="0" smtClean="0">
                <a:latin typeface="Cambria" pitchFamily="18" charset="0"/>
                <a:ea typeface="Cambria" pitchFamily="18" charset="0"/>
              </a:rPr>
              <a:t> has the most records (1,779), followed by Rabi (1,627) and </a:t>
            </a:r>
            <a:r>
              <a:rPr lang="en-US" sz="1600" dirty="0" err="1" smtClean="0">
                <a:latin typeface="Cambria" pitchFamily="18" charset="0"/>
                <a:ea typeface="Cambria" pitchFamily="18" charset="0"/>
              </a:rPr>
              <a:t>Zaid</a:t>
            </a:r>
            <a:r>
              <a:rPr lang="en-US" sz="1600" dirty="0" smtClean="0">
                <a:latin typeface="Cambria" pitchFamily="18" charset="0"/>
                <a:ea typeface="Cambria" pitchFamily="18" charset="0"/>
              </a:rPr>
              <a:t> (594) — </a:t>
            </a:r>
            <a:r>
              <a:rPr lang="en-US" sz="1600" dirty="0" err="1" smtClean="0">
                <a:latin typeface="Cambria" pitchFamily="18" charset="0"/>
                <a:ea typeface="Cambria" pitchFamily="18" charset="0"/>
              </a:rPr>
              <a:t>Kharif</a:t>
            </a:r>
            <a:r>
              <a:rPr lang="en-US" sz="1600" dirty="0" smtClean="0">
                <a:latin typeface="Cambria" pitchFamily="18" charset="0"/>
                <a:ea typeface="Cambria" pitchFamily="18" charset="0"/>
              </a:rPr>
              <a:t> and Rabi dominate the dataset while </a:t>
            </a:r>
            <a:r>
              <a:rPr lang="en-US" sz="1600" dirty="0" err="1" smtClean="0">
                <a:latin typeface="Cambria" pitchFamily="18" charset="0"/>
                <a:ea typeface="Cambria" pitchFamily="18" charset="0"/>
              </a:rPr>
              <a:t>Zaid</a:t>
            </a:r>
            <a:r>
              <a:rPr lang="en-US" sz="1600" dirty="0" smtClean="0">
                <a:latin typeface="Cambria" pitchFamily="18" charset="0"/>
                <a:ea typeface="Cambria" pitchFamily="18" charset="0"/>
              </a:rPr>
              <a:t> is a minority season.</a:t>
            </a:r>
            <a:endParaRPr lang="en-IN" sz="1600" dirty="0">
              <a:latin typeface="Cambria" pitchFamily="18" charset="0"/>
              <a:ea typeface="Cambria" pitchFamily="18" charset="0"/>
            </a:endParaRPr>
          </a:p>
        </p:txBody>
      </p:sp>
      <p:pic>
        <p:nvPicPr>
          <p:cNvPr id="9"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16385" name="Picture 1"/>
          <p:cNvPicPr>
            <a:picLocks noChangeAspect="1" noChangeArrowheads="1"/>
          </p:cNvPicPr>
          <p:nvPr/>
        </p:nvPicPr>
        <p:blipFill>
          <a:blip r:embed="rId5"/>
          <a:srcRect/>
          <a:stretch>
            <a:fillRect/>
          </a:stretch>
        </p:blipFill>
        <p:spPr bwMode="auto">
          <a:xfrm>
            <a:off x="435592" y="3011973"/>
            <a:ext cx="3956263" cy="3846027"/>
          </a:xfrm>
          <a:prstGeom prst="rect">
            <a:avLst/>
          </a:prstGeom>
          <a:noFill/>
          <a:ln w="9525">
            <a:noFill/>
            <a:miter lim="800000"/>
            <a:headEnd/>
            <a:tailEnd/>
          </a:ln>
          <a:effectLst/>
        </p:spPr>
      </p:pic>
      <p:pic>
        <p:nvPicPr>
          <p:cNvPr id="16386" name="Picture 2"/>
          <p:cNvPicPr>
            <a:picLocks noChangeAspect="1" noChangeArrowheads="1"/>
          </p:cNvPicPr>
          <p:nvPr/>
        </p:nvPicPr>
        <p:blipFill>
          <a:blip r:embed="rId6"/>
          <a:srcRect/>
          <a:stretch>
            <a:fillRect/>
          </a:stretch>
        </p:blipFill>
        <p:spPr bwMode="auto">
          <a:xfrm>
            <a:off x="6258477" y="1634995"/>
            <a:ext cx="1206014" cy="771058"/>
          </a:xfrm>
          <a:prstGeom prst="rect">
            <a:avLst/>
          </a:prstGeom>
          <a:noFill/>
          <a:ln w="9525">
            <a:noFill/>
            <a:miter lim="800000"/>
            <a:headEnd/>
            <a:tailEnd/>
          </a:ln>
          <a:effectLst/>
        </p:spPr>
      </p:pic>
      <p:sp>
        <p:nvSpPr>
          <p:cNvPr id="12" name="Text Placeholder 1">
            <a:extLst>
              <a:ext uri="{FF2B5EF4-FFF2-40B4-BE49-F238E27FC236}">
                <a16:creationId xmlns:a16="http://schemas.microsoft.com/office/drawing/2014/main" xmlns="" id="{B19D8AC7-3787-4ADB-9212-0808F015C2DD}"/>
              </a:ext>
            </a:extLst>
          </p:cNvPr>
          <p:cNvSpPr txBox="1">
            <a:spLocks/>
          </p:cNvSpPr>
          <p:nvPr/>
        </p:nvSpPr>
        <p:spPr>
          <a:xfrm>
            <a:off x="5848805" y="1780036"/>
            <a:ext cx="5649620" cy="477520"/>
          </a:xfrm>
          <a:prstGeom prst="rect">
            <a:avLst/>
          </a:prstGeom>
        </p:spPr>
        <p:txBody>
          <a:bodyPr vert="horz" lIns="91440" tIns="45720" rIns="91440" bIns="45720" rtlCol="0" anchor="t">
            <a:noAutofit/>
          </a:bodyPr>
          <a:lstStyle/>
          <a:p>
            <a:pPr lvl="0">
              <a:spcBef>
                <a:spcPts val="1000"/>
              </a:spcBef>
              <a:buClr>
                <a:schemeClr val="accent4"/>
              </a:buClr>
              <a:buSzPct val="80000"/>
            </a:pPr>
            <a:r>
              <a:rPr lang="en-US" sz="1600" b="1" dirty="0" smtClean="0">
                <a:latin typeface="Cambria" pitchFamily="18" charset="0"/>
                <a:ea typeface="Cambria" pitchFamily="18" charset="0"/>
              </a:rPr>
              <a:t>Q2: Which crops are most represented in the dataset?</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Rice (690 records) and Wheat (614) are most common; Sugarcane (305) is least represented.</a:t>
            </a:r>
            <a:endParaRPr kumimoji="0" lang="en-IN" sz="1600" b="0" i="0" u="none" strike="noStrike" kern="1200" cap="none" spc="0" normalizeH="0" baseline="0" noProof="0" dirty="0">
              <a:ln>
                <a:noFill/>
              </a:ln>
              <a:solidFill>
                <a:schemeClr val="tx1">
                  <a:lumMod val="75000"/>
                  <a:lumOff val="25000"/>
                </a:schemeClr>
              </a:solidFill>
              <a:effectLst/>
              <a:uLnTx/>
              <a:uFillTx/>
              <a:latin typeface="Cambria" pitchFamily="18" charset="0"/>
              <a:ea typeface="Cambria" pitchFamily="18" charset="0"/>
            </a:endParaRPr>
          </a:p>
        </p:txBody>
      </p:sp>
      <p:pic>
        <p:nvPicPr>
          <p:cNvPr id="16387" name="Picture 3"/>
          <p:cNvPicPr>
            <a:picLocks noChangeAspect="1" noChangeArrowheads="1"/>
          </p:cNvPicPr>
          <p:nvPr/>
        </p:nvPicPr>
        <p:blipFill>
          <a:blip r:embed="rId7"/>
          <a:srcRect/>
          <a:stretch>
            <a:fillRect/>
          </a:stretch>
        </p:blipFill>
        <p:spPr bwMode="auto">
          <a:xfrm>
            <a:off x="5822917" y="2969402"/>
            <a:ext cx="5775033" cy="3105094"/>
          </a:xfrm>
          <a:prstGeom prst="rect">
            <a:avLst/>
          </a:prstGeom>
          <a:noFill/>
          <a:ln w="9525">
            <a:noFill/>
            <a:miter lim="800000"/>
            <a:headEnd/>
            <a:tailEnd/>
          </a:ln>
          <a:effectLst/>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49385" y="1219675"/>
            <a:ext cx="5631537" cy="830997"/>
          </a:xfrm>
        </p:spPr>
        <p:txBody>
          <a:bodyPr>
            <a:normAutofit fontScale="90000"/>
          </a:bodyPr>
          <a:lstStyle/>
          <a:p>
            <a:r>
              <a:rPr lang="en-GB" sz="3200" dirty="0">
                <a:latin typeface="Cambria" pitchFamily="18" charset="0"/>
                <a:ea typeface="Cambria" pitchFamily="18" charset="0"/>
              </a:rPr>
              <a:t>RESULTS </a:t>
            </a:r>
            <a:r>
              <a:rPr lang="en-GB" sz="3200" dirty="0" smtClean="0">
                <a:latin typeface="Cambria" pitchFamily="18" charset="0"/>
                <a:ea typeface="Cambria" pitchFamily="18" charset="0"/>
              </a:rPr>
              <a:t>: </a:t>
            </a:r>
            <a:r>
              <a:rPr lang="en-US" sz="3200" dirty="0" smtClean="0">
                <a:latin typeface="Cambria" pitchFamily="18" charset="0"/>
                <a:ea typeface="Cambria" pitchFamily="18" charset="0"/>
              </a:rPr>
              <a:t>Economic Deep-Dive </a:t>
            </a:r>
            <a:endParaRPr lang="en-IN" sz="3200"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452600" y="1776926"/>
            <a:ext cx="5117776" cy="477520"/>
          </a:xfrm>
        </p:spPr>
        <p:txBody>
          <a:bodyPr vert="horz" lIns="91440" tIns="45720" rIns="91440" bIns="45720" rtlCol="0" anchor="t">
            <a:noAutofit/>
          </a:bodyPr>
          <a:lstStyle/>
          <a:p>
            <a:pPr marL="0" indent="0">
              <a:buNone/>
            </a:pPr>
            <a:r>
              <a:rPr lang="en-US" sz="1600" b="1" dirty="0" smtClean="0">
                <a:latin typeface="Cambria" pitchFamily="18" charset="0"/>
                <a:ea typeface="Cambria" pitchFamily="18" charset="0"/>
              </a:rPr>
              <a:t>Q3: What share of farms are actually losing money, and how does it change by season?</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42.2% in </a:t>
            </a:r>
            <a:r>
              <a:rPr lang="en-US" sz="1600" dirty="0" err="1" smtClean="0">
                <a:latin typeface="Cambria" pitchFamily="18" charset="0"/>
                <a:ea typeface="Cambria" pitchFamily="18" charset="0"/>
              </a:rPr>
              <a:t>Kharif</a:t>
            </a:r>
            <a:r>
              <a:rPr lang="en-US" sz="1600" dirty="0" smtClean="0">
                <a:latin typeface="Cambria" pitchFamily="18" charset="0"/>
                <a:ea typeface="Cambria" pitchFamily="18" charset="0"/>
              </a:rPr>
              <a:t>, 51.1% in Rabi, and 64.5% in </a:t>
            </a:r>
            <a:r>
              <a:rPr lang="en-US" sz="1600" dirty="0" err="1" smtClean="0">
                <a:latin typeface="Cambria" pitchFamily="18" charset="0"/>
                <a:ea typeface="Cambria" pitchFamily="18" charset="0"/>
              </a:rPr>
              <a:t>Zaid</a:t>
            </a:r>
            <a:r>
              <a:rPr lang="en-US" sz="1600" dirty="0" smtClean="0">
                <a:latin typeface="Cambria" pitchFamily="18" charset="0"/>
                <a:ea typeface="Cambria" pitchFamily="18" charset="0"/>
              </a:rPr>
              <a:t> — losses become more common as the season becomes less favorable.</a:t>
            </a:r>
            <a:endParaRPr lang="en-IN" sz="1600" dirty="0">
              <a:latin typeface="Cambria" pitchFamily="18" charset="0"/>
              <a:ea typeface="Cambria" pitchFamily="18" charset="0"/>
            </a:endParaRPr>
          </a:p>
        </p:txBody>
      </p:sp>
      <p:pic>
        <p:nvPicPr>
          <p:cNvPr id="9"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16386" name="Picture 2"/>
          <p:cNvPicPr>
            <a:picLocks noChangeAspect="1" noChangeArrowheads="1"/>
          </p:cNvPicPr>
          <p:nvPr/>
        </p:nvPicPr>
        <p:blipFill>
          <a:blip r:embed="rId5"/>
          <a:srcRect/>
          <a:stretch>
            <a:fillRect/>
          </a:stretch>
        </p:blipFill>
        <p:spPr bwMode="auto">
          <a:xfrm>
            <a:off x="6258477" y="1634995"/>
            <a:ext cx="1206014" cy="771058"/>
          </a:xfrm>
          <a:prstGeom prst="rect">
            <a:avLst/>
          </a:prstGeom>
          <a:noFill/>
          <a:ln w="9525">
            <a:noFill/>
            <a:miter lim="800000"/>
            <a:headEnd/>
            <a:tailEnd/>
          </a:ln>
          <a:effectLst/>
        </p:spPr>
      </p:pic>
      <p:sp>
        <p:nvSpPr>
          <p:cNvPr id="12" name="Text Placeholder 1">
            <a:extLst>
              <a:ext uri="{FF2B5EF4-FFF2-40B4-BE49-F238E27FC236}">
                <a16:creationId xmlns:a16="http://schemas.microsoft.com/office/drawing/2014/main" xmlns="" id="{B19D8AC7-3787-4ADB-9212-0808F015C2DD}"/>
              </a:ext>
            </a:extLst>
          </p:cNvPr>
          <p:cNvSpPr txBox="1">
            <a:spLocks/>
          </p:cNvSpPr>
          <p:nvPr/>
        </p:nvSpPr>
        <p:spPr>
          <a:xfrm>
            <a:off x="5848805" y="1780036"/>
            <a:ext cx="5649620" cy="477520"/>
          </a:xfrm>
          <a:prstGeom prst="rect">
            <a:avLst/>
          </a:prstGeom>
        </p:spPr>
        <p:txBody>
          <a:bodyPr vert="horz" lIns="91440" tIns="45720" rIns="91440" bIns="45720" rtlCol="0" anchor="t">
            <a:noAutofit/>
          </a:bodyPr>
          <a:lstStyle/>
          <a:p>
            <a:pPr lvl="0">
              <a:spcBef>
                <a:spcPts val="1000"/>
              </a:spcBef>
              <a:buClr>
                <a:schemeClr val="accent4"/>
              </a:buClr>
              <a:buSzPct val="80000"/>
            </a:pPr>
            <a:r>
              <a:rPr lang="en-US" sz="1600" b="1" dirty="0" smtClean="0">
                <a:latin typeface="Cambria" pitchFamily="18" charset="0"/>
                <a:ea typeface="Cambria" pitchFamily="18" charset="0"/>
              </a:rPr>
              <a:t>Q4: How steep are seasonal losses in percentage terms?</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Average profit margin is -38.6% (</a:t>
            </a:r>
            <a:r>
              <a:rPr lang="en-US" sz="1600" dirty="0" err="1" smtClean="0">
                <a:latin typeface="Cambria" pitchFamily="18" charset="0"/>
                <a:ea typeface="Cambria" pitchFamily="18" charset="0"/>
              </a:rPr>
              <a:t>Kharif</a:t>
            </a:r>
            <a:r>
              <a:rPr lang="en-US" sz="1600" dirty="0" smtClean="0">
                <a:latin typeface="Cambria" pitchFamily="18" charset="0"/>
                <a:ea typeface="Cambria" pitchFamily="18" charset="0"/>
              </a:rPr>
              <a:t>), -44.3% (Rabi), and -69.3% (</a:t>
            </a:r>
            <a:r>
              <a:rPr lang="en-US" sz="1600" dirty="0" err="1" smtClean="0">
                <a:latin typeface="Cambria" pitchFamily="18" charset="0"/>
                <a:ea typeface="Cambria" pitchFamily="18" charset="0"/>
              </a:rPr>
              <a:t>Zaid</a:t>
            </a:r>
            <a:r>
              <a:rPr lang="en-US" sz="1600" dirty="0" smtClean="0">
                <a:latin typeface="Cambria" pitchFamily="18" charset="0"/>
                <a:ea typeface="Cambria" pitchFamily="18" charset="0"/>
              </a:rPr>
              <a:t>) — </a:t>
            </a:r>
            <a:r>
              <a:rPr lang="en-US" sz="1600" dirty="0" err="1" smtClean="0">
                <a:latin typeface="Cambria" pitchFamily="18" charset="0"/>
                <a:ea typeface="Cambria" pitchFamily="18" charset="0"/>
              </a:rPr>
              <a:t>Zaid's</a:t>
            </a:r>
            <a:r>
              <a:rPr lang="en-US" sz="1600" dirty="0" smtClean="0">
                <a:latin typeface="Cambria" pitchFamily="18" charset="0"/>
                <a:ea typeface="Cambria" pitchFamily="18" charset="0"/>
              </a:rPr>
              <a:t> losses are nearly double </a:t>
            </a:r>
            <a:r>
              <a:rPr lang="en-US" sz="1600" dirty="0" err="1" smtClean="0">
                <a:latin typeface="Cambria" pitchFamily="18" charset="0"/>
                <a:ea typeface="Cambria" pitchFamily="18" charset="0"/>
              </a:rPr>
              <a:t>Kharif's</a:t>
            </a:r>
            <a:r>
              <a:rPr lang="en-US" sz="1600" dirty="0" smtClean="0">
                <a:latin typeface="Cambria" pitchFamily="18" charset="0"/>
                <a:ea typeface="Cambria" pitchFamily="18" charset="0"/>
              </a:rPr>
              <a:t> on a margin basis.</a:t>
            </a:r>
            <a:endParaRPr kumimoji="0" lang="en-IN" sz="1600" b="0" i="0" u="none" strike="noStrike" kern="1200" cap="none" spc="0" normalizeH="0" baseline="0" noProof="0" dirty="0">
              <a:ln>
                <a:noFill/>
              </a:ln>
              <a:solidFill>
                <a:schemeClr val="tx1">
                  <a:lumMod val="75000"/>
                  <a:lumOff val="25000"/>
                </a:schemeClr>
              </a:solidFill>
              <a:effectLst/>
              <a:uLnTx/>
              <a:uFillTx/>
              <a:latin typeface="Cambria" pitchFamily="18" charset="0"/>
              <a:ea typeface="Cambria" pitchFamily="18" charset="0"/>
            </a:endParaRPr>
          </a:p>
        </p:txBody>
      </p:sp>
      <p:pic>
        <p:nvPicPr>
          <p:cNvPr id="45058" name="Picture 2"/>
          <p:cNvPicPr>
            <a:picLocks noChangeAspect="1" noChangeArrowheads="1"/>
          </p:cNvPicPr>
          <p:nvPr/>
        </p:nvPicPr>
        <p:blipFill>
          <a:blip r:embed="rId6"/>
          <a:srcRect/>
          <a:stretch>
            <a:fillRect/>
          </a:stretch>
        </p:blipFill>
        <p:spPr bwMode="auto">
          <a:xfrm>
            <a:off x="482244" y="3300055"/>
            <a:ext cx="5016500" cy="3187700"/>
          </a:xfrm>
          <a:prstGeom prst="rect">
            <a:avLst/>
          </a:prstGeom>
          <a:noFill/>
          <a:ln w="9525">
            <a:noFill/>
            <a:miter lim="800000"/>
            <a:headEnd/>
            <a:tailEnd/>
          </a:ln>
          <a:effectLst/>
        </p:spPr>
      </p:pic>
      <p:pic>
        <p:nvPicPr>
          <p:cNvPr id="45059" name="Picture 3"/>
          <p:cNvPicPr>
            <a:picLocks noChangeAspect="1" noChangeArrowheads="1"/>
          </p:cNvPicPr>
          <p:nvPr/>
        </p:nvPicPr>
        <p:blipFill>
          <a:blip r:embed="rId7"/>
          <a:srcRect/>
          <a:stretch>
            <a:fillRect/>
          </a:stretch>
        </p:blipFill>
        <p:spPr bwMode="auto">
          <a:xfrm>
            <a:off x="6089554" y="3004651"/>
            <a:ext cx="5054600" cy="3181350"/>
          </a:xfrm>
          <a:prstGeom prst="rect">
            <a:avLst/>
          </a:prstGeom>
          <a:noFill/>
          <a:ln w="9525">
            <a:noFill/>
            <a:miter lim="800000"/>
            <a:headEnd/>
            <a:tailEnd/>
          </a:ln>
          <a:effectLst/>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49385" y="1219675"/>
            <a:ext cx="5631537" cy="830997"/>
          </a:xfrm>
        </p:spPr>
        <p:txBody>
          <a:bodyPr>
            <a:normAutofit/>
          </a:bodyPr>
          <a:lstStyle/>
          <a:p>
            <a:r>
              <a:rPr lang="en-GB" sz="3200" dirty="0">
                <a:latin typeface="Cambria" pitchFamily="18" charset="0"/>
                <a:ea typeface="Cambria" pitchFamily="18" charset="0"/>
              </a:rPr>
              <a:t>RESULTS </a:t>
            </a:r>
            <a:r>
              <a:rPr lang="en-GB" sz="3200" dirty="0" smtClean="0">
                <a:latin typeface="Cambria" pitchFamily="18" charset="0"/>
                <a:ea typeface="Cambria" pitchFamily="18" charset="0"/>
              </a:rPr>
              <a:t>: </a:t>
            </a:r>
            <a:r>
              <a:rPr lang="en-US" sz="2800" dirty="0" smtClean="0">
                <a:latin typeface="Cambria" pitchFamily="18" charset="0"/>
                <a:ea typeface="Cambria" pitchFamily="18" charset="0"/>
              </a:rPr>
              <a:t>Resource Efficiency</a:t>
            </a:r>
            <a:endParaRPr lang="en-IN" sz="3200"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452600" y="1776926"/>
            <a:ext cx="5117776" cy="477520"/>
          </a:xfrm>
        </p:spPr>
        <p:txBody>
          <a:bodyPr vert="horz" lIns="91440" tIns="45720" rIns="91440" bIns="45720" rtlCol="0" anchor="t">
            <a:noAutofit/>
          </a:bodyPr>
          <a:lstStyle/>
          <a:p>
            <a:pPr marL="0" indent="0">
              <a:buNone/>
            </a:pPr>
            <a:r>
              <a:rPr lang="en-US" sz="1600" b="1" dirty="0" smtClean="0">
                <a:latin typeface="Cambria" pitchFamily="18" charset="0"/>
                <a:ea typeface="Cambria" pitchFamily="18" charset="0"/>
              </a:rPr>
              <a:t>Q5: Does applying more fertilizer increase yield?</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No — the trend line is essentially flat, confirming fertilizer has almost no measurable relationship with yield in this data (r ≈ 0.00).</a:t>
            </a:r>
            <a:endParaRPr lang="en-IN" sz="1600" dirty="0">
              <a:latin typeface="Cambria" pitchFamily="18" charset="0"/>
              <a:ea typeface="Cambria" pitchFamily="18" charset="0"/>
            </a:endParaRPr>
          </a:p>
        </p:txBody>
      </p:sp>
      <p:pic>
        <p:nvPicPr>
          <p:cNvPr id="9"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16386" name="Picture 2"/>
          <p:cNvPicPr>
            <a:picLocks noChangeAspect="1" noChangeArrowheads="1"/>
          </p:cNvPicPr>
          <p:nvPr/>
        </p:nvPicPr>
        <p:blipFill>
          <a:blip r:embed="rId5"/>
          <a:srcRect/>
          <a:stretch>
            <a:fillRect/>
          </a:stretch>
        </p:blipFill>
        <p:spPr bwMode="auto">
          <a:xfrm>
            <a:off x="6342453" y="1289762"/>
            <a:ext cx="1206014" cy="771058"/>
          </a:xfrm>
          <a:prstGeom prst="rect">
            <a:avLst/>
          </a:prstGeom>
          <a:noFill/>
          <a:ln w="9525">
            <a:noFill/>
            <a:miter lim="800000"/>
            <a:headEnd/>
            <a:tailEnd/>
          </a:ln>
          <a:effectLst/>
        </p:spPr>
      </p:pic>
      <p:sp>
        <p:nvSpPr>
          <p:cNvPr id="12" name="Text Placeholder 1">
            <a:extLst>
              <a:ext uri="{FF2B5EF4-FFF2-40B4-BE49-F238E27FC236}">
                <a16:creationId xmlns:a16="http://schemas.microsoft.com/office/drawing/2014/main" xmlns="" id="{B19D8AC7-3787-4ADB-9212-0808F015C2DD}"/>
              </a:ext>
            </a:extLst>
          </p:cNvPr>
          <p:cNvSpPr txBox="1">
            <a:spLocks/>
          </p:cNvSpPr>
          <p:nvPr/>
        </p:nvSpPr>
        <p:spPr>
          <a:xfrm>
            <a:off x="5858135" y="1257522"/>
            <a:ext cx="5649620" cy="477520"/>
          </a:xfrm>
          <a:prstGeom prst="rect">
            <a:avLst/>
          </a:prstGeom>
        </p:spPr>
        <p:txBody>
          <a:bodyPr vert="horz" lIns="91440" tIns="45720" rIns="91440" bIns="45720" rtlCol="0" anchor="t">
            <a:noAutofit/>
          </a:bodyPr>
          <a:lstStyle/>
          <a:p>
            <a:pPr lvl="0">
              <a:spcBef>
                <a:spcPts val="1000"/>
              </a:spcBef>
              <a:buClr>
                <a:schemeClr val="accent4"/>
              </a:buClr>
              <a:buSzPct val="80000"/>
            </a:pPr>
            <a:r>
              <a:rPr lang="en-US" sz="1600" b="1" dirty="0" smtClean="0">
                <a:latin typeface="Cambria" pitchFamily="18" charset="0"/>
                <a:ea typeface="Cambria" pitchFamily="18" charset="0"/>
              </a:rPr>
              <a:t>Q6: Is the negative correlation between market price and yield a real economic effect?</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No — it's an artifact of pooling all crops together. Once colored/split by crop, each crop's own price-yield relationship looks very different (e.g., Sugarcane: high yield, low price; Pulses: low yield, high price) — it's a crop-mix effect, not a market law.</a:t>
            </a:r>
            <a:endParaRPr kumimoji="0" lang="en-IN" sz="1600" b="0" i="0" u="none" strike="noStrike" kern="1200" cap="none" spc="0" normalizeH="0" baseline="0" noProof="0" dirty="0">
              <a:ln>
                <a:noFill/>
              </a:ln>
              <a:solidFill>
                <a:schemeClr val="tx1">
                  <a:lumMod val="75000"/>
                  <a:lumOff val="25000"/>
                </a:schemeClr>
              </a:solidFill>
              <a:effectLst/>
              <a:uLnTx/>
              <a:uFillTx/>
              <a:latin typeface="Cambria" pitchFamily="18" charset="0"/>
              <a:ea typeface="Cambria" pitchFamily="18" charset="0"/>
            </a:endParaRPr>
          </a:p>
        </p:txBody>
      </p:sp>
      <p:pic>
        <p:nvPicPr>
          <p:cNvPr id="46082" name="Picture 2"/>
          <p:cNvPicPr>
            <a:picLocks noChangeAspect="1" noChangeArrowheads="1"/>
          </p:cNvPicPr>
          <p:nvPr/>
        </p:nvPicPr>
        <p:blipFill>
          <a:blip r:embed="rId6"/>
          <a:srcRect/>
          <a:stretch>
            <a:fillRect/>
          </a:stretch>
        </p:blipFill>
        <p:spPr bwMode="auto">
          <a:xfrm>
            <a:off x="576717" y="3129837"/>
            <a:ext cx="4902200" cy="2800350"/>
          </a:xfrm>
          <a:prstGeom prst="rect">
            <a:avLst/>
          </a:prstGeom>
          <a:noFill/>
          <a:ln w="9525">
            <a:noFill/>
            <a:miter lim="800000"/>
            <a:headEnd/>
            <a:tailEnd/>
          </a:ln>
          <a:effectLst/>
        </p:spPr>
      </p:pic>
      <p:pic>
        <p:nvPicPr>
          <p:cNvPr id="46083" name="Picture 3"/>
          <p:cNvPicPr>
            <a:picLocks noChangeAspect="1" noChangeArrowheads="1"/>
          </p:cNvPicPr>
          <p:nvPr/>
        </p:nvPicPr>
        <p:blipFill>
          <a:blip r:embed="rId7"/>
          <a:srcRect/>
          <a:stretch>
            <a:fillRect/>
          </a:stretch>
        </p:blipFill>
        <p:spPr bwMode="auto">
          <a:xfrm>
            <a:off x="5772182" y="3069770"/>
            <a:ext cx="6150902" cy="3545633"/>
          </a:xfrm>
          <a:prstGeom prst="rect">
            <a:avLst/>
          </a:prstGeom>
          <a:noFill/>
          <a:ln w="9525">
            <a:noFill/>
            <a:miter lim="800000"/>
            <a:headEnd/>
            <a:tailEnd/>
          </a:ln>
          <a:effectLst/>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49385" y="1219675"/>
            <a:ext cx="5631537" cy="830997"/>
          </a:xfrm>
        </p:spPr>
        <p:txBody>
          <a:bodyPr>
            <a:normAutofit/>
          </a:bodyPr>
          <a:lstStyle/>
          <a:p>
            <a:r>
              <a:rPr lang="en-GB" sz="3200" dirty="0">
                <a:latin typeface="Cambria" pitchFamily="18" charset="0"/>
                <a:ea typeface="Cambria" pitchFamily="18" charset="0"/>
              </a:rPr>
              <a:t>RESULTS </a:t>
            </a:r>
            <a:r>
              <a:rPr lang="en-GB" sz="3200" dirty="0" smtClean="0">
                <a:latin typeface="Cambria" pitchFamily="18" charset="0"/>
                <a:ea typeface="Cambria" pitchFamily="18" charset="0"/>
              </a:rPr>
              <a:t>: </a:t>
            </a:r>
            <a:r>
              <a:rPr lang="en-US" sz="2800" dirty="0" smtClean="0"/>
              <a:t>Risk Analysis</a:t>
            </a:r>
            <a:endParaRPr lang="en-IN" sz="3200"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1" y="1776926"/>
            <a:ext cx="5570376" cy="477520"/>
          </a:xfrm>
        </p:spPr>
        <p:txBody>
          <a:bodyPr vert="horz" lIns="91440" tIns="45720" rIns="91440" bIns="45720" rtlCol="0" anchor="t">
            <a:noAutofit/>
          </a:bodyPr>
          <a:lstStyle/>
          <a:p>
            <a:pPr marL="0" indent="0">
              <a:buNone/>
            </a:pPr>
            <a:r>
              <a:rPr lang="en-US" sz="1600" b="1" dirty="0" smtClean="0">
                <a:latin typeface="Cambria" pitchFamily="18" charset="0"/>
                <a:ea typeface="Cambria" pitchFamily="18" charset="0"/>
              </a:rPr>
              <a:t>Q7: What drives disease/pest risk — weather or region?</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Weather — risk correlates with rainfall (r ≈ 0.62) and humidity (r ≈ 0.55), while it barely varies across states (45.9%–47.1%), confirming it's climate-driven, not regional.</a:t>
            </a:r>
            <a:endParaRPr lang="en-IN" sz="1600" dirty="0">
              <a:latin typeface="Cambria" pitchFamily="18" charset="0"/>
              <a:ea typeface="Cambria" pitchFamily="18" charset="0"/>
            </a:endParaRPr>
          </a:p>
        </p:txBody>
      </p:sp>
      <p:pic>
        <p:nvPicPr>
          <p:cNvPr id="9"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16386" name="Picture 2"/>
          <p:cNvPicPr>
            <a:picLocks noChangeAspect="1" noChangeArrowheads="1"/>
          </p:cNvPicPr>
          <p:nvPr/>
        </p:nvPicPr>
        <p:blipFill>
          <a:blip r:embed="rId5"/>
          <a:srcRect/>
          <a:stretch>
            <a:fillRect/>
          </a:stretch>
        </p:blipFill>
        <p:spPr bwMode="auto">
          <a:xfrm>
            <a:off x="6342453" y="1289762"/>
            <a:ext cx="1206014" cy="771058"/>
          </a:xfrm>
          <a:prstGeom prst="rect">
            <a:avLst/>
          </a:prstGeom>
          <a:noFill/>
          <a:ln w="9525">
            <a:noFill/>
            <a:miter lim="800000"/>
            <a:headEnd/>
            <a:tailEnd/>
          </a:ln>
          <a:effectLst/>
        </p:spPr>
      </p:pic>
      <p:sp>
        <p:nvSpPr>
          <p:cNvPr id="12" name="Text Placeholder 1">
            <a:extLst>
              <a:ext uri="{FF2B5EF4-FFF2-40B4-BE49-F238E27FC236}">
                <a16:creationId xmlns:a16="http://schemas.microsoft.com/office/drawing/2014/main" xmlns="" id="{B19D8AC7-3787-4ADB-9212-0808F015C2DD}"/>
              </a:ext>
            </a:extLst>
          </p:cNvPr>
          <p:cNvSpPr txBox="1">
            <a:spLocks/>
          </p:cNvSpPr>
          <p:nvPr/>
        </p:nvSpPr>
        <p:spPr>
          <a:xfrm>
            <a:off x="5858135" y="1257522"/>
            <a:ext cx="5649620" cy="477520"/>
          </a:xfrm>
          <a:prstGeom prst="rect">
            <a:avLst/>
          </a:prstGeom>
        </p:spPr>
        <p:txBody>
          <a:bodyPr vert="horz" lIns="91440" tIns="45720" rIns="91440" bIns="45720" rtlCol="0" anchor="t">
            <a:noAutofit/>
          </a:bodyPr>
          <a:lstStyle/>
          <a:p>
            <a:pPr lvl="0">
              <a:spcBef>
                <a:spcPts val="1000"/>
              </a:spcBef>
              <a:buClr>
                <a:schemeClr val="accent4"/>
              </a:buClr>
              <a:buSzPct val="80000"/>
            </a:pPr>
            <a:r>
              <a:rPr lang="en-US" sz="1600" b="1" dirty="0" smtClean="0">
                <a:latin typeface="Cambria" pitchFamily="18" charset="0"/>
                <a:ea typeface="Cambria" pitchFamily="18" charset="0"/>
              </a:rPr>
              <a:t>Q8: Does higher disease/pest risk actually reduce yield?</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Surprisingly, no visible relationship — points are scattered with no trend, and correlation is near zero (r ≈ 0.01).</a:t>
            </a:r>
            <a:endParaRPr kumimoji="0" lang="en-IN" sz="1600" b="0" i="0" u="none" strike="noStrike" kern="1200" cap="none" spc="0" normalizeH="0" baseline="0" noProof="0" dirty="0">
              <a:ln>
                <a:noFill/>
              </a:ln>
              <a:solidFill>
                <a:schemeClr val="tx1">
                  <a:lumMod val="75000"/>
                  <a:lumOff val="25000"/>
                </a:schemeClr>
              </a:solidFill>
              <a:effectLst/>
              <a:uLnTx/>
              <a:uFillTx/>
              <a:latin typeface="Cambria" pitchFamily="18" charset="0"/>
              <a:ea typeface="Cambria" pitchFamily="18" charset="0"/>
            </a:endParaRPr>
          </a:p>
        </p:txBody>
      </p:sp>
      <p:pic>
        <p:nvPicPr>
          <p:cNvPr id="47106" name="Picture 2"/>
          <p:cNvPicPr>
            <a:picLocks noChangeAspect="1" noChangeArrowheads="1"/>
          </p:cNvPicPr>
          <p:nvPr/>
        </p:nvPicPr>
        <p:blipFill>
          <a:blip r:embed="rId6"/>
          <a:srcRect/>
          <a:stretch>
            <a:fillRect/>
          </a:stretch>
        </p:blipFill>
        <p:spPr bwMode="auto">
          <a:xfrm>
            <a:off x="213859" y="2948472"/>
            <a:ext cx="3439919" cy="2528597"/>
          </a:xfrm>
          <a:prstGeom prst="rect">
            <a:avLst/>
          </a:prstGeom>
          <a:noFill/>
          <a:ln w="9525">
            <a:noFill/>
            <a:miter lim="800000"/>
            <a:headEnd/>
            <a:tailEnd/>
          </a:ln>
          <a:effectLst/>
        </p:spPr>
      </p:pic>
      <p:pic>
        <p:nvPicPr>
          <p:cNvPr id="47107" name="Picture 3"/>
          <p:cNvPicPr>
            <a:picLocks noChangeAspect="1" noChangeArrowheads="1"/>
          </p:cNvPicPr>
          <p:nvPr/>
        </p:nvPicPr>
        <p:blipFill>
          <a:blip r:embed="rId7"/>
          <a:srcRect/>
          <a:stretch>
            <a:fillRect/>
          </a:stretch>
        </p:blipFill>
        <p:spPr bwMode="auto">
          <a:xfrm>
            <a:off x="3420610" y="4624108"/>
            <a:ext cx="4062542" cy="2233892"/>
          </a:xfrm>
          <a:prstGeom prst="rect">
            <a:avLst/>
          </a:prstGeom>
          <a:noFill/>
          <a:ln w="9525">
            <a:noFill/>
            <a:miter lim="800000"/>
            <a:headEnd/>
            <a:tailEnd/>
          </a:ln>
          <a:effectLst/>
        </p:spPr>
      </p:pic>
      <p:pic>
        <p:nvPicPr>
          <p:cNvPr id="47108" name="Picture 4"/>
          <p:cNvPicPr>
            <a:picLocks noChangeAspect="1" noChangeArrowheads="1"/>
          </p:cNvPicPr>
          <p:nvPr/>
        </p:nvPicPr>
        <p:blipFill>
          <a:blip r:embed="rId8"/>
          <a:srcRect/>
          <a:stretch>
            <a:fillRect/>
          </a:stretch>
        </p:blipFill>
        <p:spPr bwMode="auto">
          <a:xfrm>
            <a:off x="7274347" y="2155306"/>
            <a:ext cx="4025025" cy="2302173"/>
          </a:xfrm>
          <a:prstGeom prst="rect">
            <a:avLst/>
          </a:prstGeom>
          <a:noFill/>
          <a:ln w="9525">
            <a:noFill/>
            <a:miter lim="800000"/>
            <a:headEnd/>
            <a:tailEnd/>
          </a:ln>
          <a:effectLst/>
        </p:spPr>
      </p:pic>
      <p:cxnSp>
        <p:nvCxnSpPr>
          <p:cNvPr id="17" name="Straight Connector 16"/>
          <p:cNvCxnSpPr/>
          <p:nvPr/>
        </p:nvCxnSpPr>
        <p:spPr>
          <a:xfrm flipH="1">
            <a:off x="5635690" y="1091682"/>
            <a:ext cx="9330" cy="3312367"/>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a:off x="5654351" y="4404049"/>
            <a:ext cx="2705878" cy="326571"/>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8406882" y="4730620"/>
            <a:ext cx="18661" cy="21273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49385" y="1219675"/>
            <a:ext cx="5631537" cy="830997"/>
          </a:xfrm>
        </p:spPr>
        <p:txBody>
          <a:bodyPr>
            <a:normAutofit/>
          </a:bodyPr>
          <a:lstStyle/>
          <a:p>
            <a:r>
              <a:rPr lang="en-GB" sz="3200" dirty="0" smtClean="0">
                <a:latin typeface="Cambria" pitchFamily="18" charset="0"/>
                <a:ea typeface="Cambria" pitchFamily="18" charset="0"/>
              </a:rPr>
              <a:t>RESULTS</a:t>
            </a:r>
            <a:endParaRPr lang="en-IN" sz="3200"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452600" y="1776926"/>
            <a:ext cx="5117776" cy="477520"/>
          </a:xfrm>
        </p:spPr>
        <p:txBody>
          <a:bodyPr vert="horz" lIns="91440" tIns="45720" rIns="91440" bIns="45720" rtlCol="0" anchor="t">
            <a:noAutofit/>
          </a:bodyPr>
          <a:lstStyle/>
          <a:p>
            <a:pPr marL="0" indent="0">
              <a:buNone/>
            </a:pPr>
            <a:r>
              <a:rPr lang="en-US" sz="1600" b="1" dirty="0" smtClean="0">
                <a:latin typeface="Cambria" pitchFamily="18" charset="0"/>
                <a:ea typeface="Cambria" pitchFamily="18" charset="0"/>
              </a:rPr>
              <a:t>Q9: Does profit track with yield?</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Moderately (r ≈ 0.49) — higher yield generally means higher profit, but the relationship isn't tight, meaning cost and price differences also drive profit outcomes independently of yield.</a:t>
            </a:r>
            <a:endParaRPr lang="en-IN" sz="1600" dirty="0">
              <a:latin typeface="Cambria" pitchFamily="18" charset="0"/>
              <a:ea typeface="Cambria" pitchFamily="18" charset="0"/>
            </a:endParaRPr>
          </a:p>
        </p:txBody>
      </p:sp>
      <p:pic>
        <p:nvPicPr>
          <p:cNvPr id="9"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16386" name="Picture 2"/>
          <p:cNvPicPr>
            <a:picLocks noChangeAspect="1" noChangeArrowheads="1"/>
          </p:cNvPicPr>
          <p:nvPr/>
        </p:nvPicPr>
        <p:blipFill>
          <a:blip r:embed="rId5"/>
          <a:srcRect/>
          <a:stretch>
            <a:fillRect/>
          </a:stretch>
        </p:blipFill>
        <p:spPr bwMode="auto">
          <a:xfrm>
            <a:off x="6342453" y="1289762"/>
            <a:ext cx="1206014" cy="771058"/>
          </a:xfrm>
          <a:prstGeom prst="rect">
            <a:avLst/>
          </a:prstGeom>
          <a:noFill/>
          <a:ln w="9525">
            <a:noFill/>
            <a:miter lim="800000"/>
            <a:headEnd/>
            <a:tailEnd/>
          </a:ln>
          <a:effectLst/>
        </p:spPr>
      </p:pic>
      <p:sp>
        <p:nvSpPr>
          <p:cNvPr id="12" name="Text Placeholder 1">
            <a:extLst>
              <a:ext uri="{FF2B5EF4-FFF2-40B4-BE49-F238E27FC236}">
                <a16:creationId xmlns:a16="http://schemas.microsoft.com/office/drawing/2014/main" xmlns="" id="{B19D8AC7-3787-4ADB-9212-0808F015C2DD}"/>
              </a:ext>
            </a:extLst>
          </p:cNvPr>
          <p:cNvSpPr txBox="1">
            <a:spLocks/>
          </p:cNvSpPr>
          <p:nvPr/>
        </p:nvSpPr>
        <p:spPr>
          <a:xfrm>
            <a:off x="5858135" y="1257522"/>
            <a:ext cx="5649620" cy="477520"/>
          </a:xfrm>
          <a:prstGeom prst="rect">
            <a:avLst/>
          </a:prstGeom>
        </p:spPr>
        <p:txBody>
          <a:bodyPr vert="horz" lIns="91440" tIns="45720" rIns="91440" bIns="45720" rtlCol="0" anchor="t">
            <a:noAutofit/>
          </a:bodyPr>
          <a:lstStyle/>
          <a:p>
            <a:pPr lvl="0">
              <a:spcBef>
                <a:spcPts val="1000"/>
              </a:spcBef>
              <a:buClr>
                <a:schemeClr val="accent4"/>
              </a:buClr>
              <a:buSzPct val="80000"/>
            </a:pPr>
            <a:r>
              <a:rPr lang="en-US" sz="1600" b="1" dirty="0" smtClean="0">
                <a:latin typeface="Cambria" pitchFamily="18" charset="0"/>
                <a:ea typeface="Cambria" pitchFamily="18" charset="0"/>
              </a:rPr>
              <a:t>Q10: Which pairs of variables are most strongly correlated overall?</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Water Efficiency and Yield are the standout pair (r ≈ 0.91); Yield and Production are also strongly linked (r ≈ 0.88); most environmental and input variables (rainfall, nitrogen, fertilizer) show near-zero correlation with performance outcomes.</a:t>
            </a:r>
            <a:endParaRPr kumimoji="0" lang="en-IN" sz="1600" b="0" i="0" u="none" strike="noStrike" kern="1200" cap="none" spc="0" normalizeH="0" baseline="0" noProof="0" dirty="0">
              <a:ln>
                <a:noFill/>
              </a:ln>
              <a:solidFill>
                <a:schemeClr val="tx1">
                  <a:lumMod val="75000"/>
                  <a:lumOff val="25000"/>
                </a:schemeClr>
              </a:solidFill>
              <a:effectLst/>
              <a:uLnTx/>
              <a:uFillTx/>
              <a:latin typeface="Cambria" pitchFamily="18" charset="0"/>
              <a:ea typeface="Cambria" pitchFamily="18" charset="0"/>
            </a:endParaRPr>
          </a:p>
        </p:txBody>
      </p:sp>
      <p:pic>
        <p:nvPicPr>
          <p:cNvPr id="48131" name="Picture 3"/>
          <p:cNvPicPr>
            <a:picLocks noChangeAspect="1" noChangeArrowheads="1"/>
          </p:cNvPicPr>
          <p:nvPr/>
        </p:nvPicPr>
        <p:blipFill>
          <a:blip r:embed="rId6"/>
          <a:srcRect/>
          <a:stretch>
            <a:fillRect/>
          </a:stretch>
        </p:blipFill>
        <p:spPr bwMode="auto">
          <a:xfrm>
            <a:off x="537061" y="3200528"/>
            <a:ext cx="5130800" cy="2882900"/>
          </a:xfrm>
          <a:prstGeom prst="rect">
            <a:avLst/>
          </a:prstGeom>
          <a:noFill/>
          <a:ln w="9525">
            <a:noFill/>
            <a:miter lim="800000"/>
            <a:headEnd/>
            <a:tailEnd/>
          </a:ln>
          <a:effectLst/>
        </p:spPr>
      </p:pic>
      <p:pic>
        <p:nvPicPr>
          <p:cNvPr id="2050" name="Picture 2"/>
          <p:cNvPicPr>
            <a:picLocks noChangeAspect="1" noChangeArrowheads="1"/>
          </p:cNvPicPr>
          <p:nvPr/>
        </p:nvPicPr>
        <p:blipFill>
          <a:blip r:embed="rId7"/>
          <a:srcRect/>
          <a:stretch>
            <a:fillRect/>
          </a:stretch>
        </p:blipFill>
        <p:spPr bwMode="auto">
          <a:xfrm>
            <a:off x="6037714" y="3013787"/>
            <a:ext cx="5429608" cy="3831515"/>
          </a:xfrm>
          <a:prstGeom prst="rect">
            <a:avLst/>
          </a:prstGeom>
          <a:noFill/>
          <a:ln w="9525">
            <a:noFill/>
            <a:miter lim="800000"/>
            <a:headEnd/>
            <a:tailEnd/>
          </a:ln>
          <a:effectLst/>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49385" y="1219675"/>
            <a:ext cx="5631537" cy="830997"/>
          </a:xfrm>
        </p:spPr>
        <p:txBody>
          <a:bodyPr>
            <a:normAutofit/>
          </a:bodyPr>
          <a:lstStyle/>
          <a:p>
            <a:r>
              <a:rPr lang="en-GB" sz="3200" dirty="0" smtClean="0">
                <a:latin typeface="Cambria" pitchFamily="18" charset="0"/>
                <a:ea typeface="Cambria" pitchFamily="18" charset="0"/>
              </a:rPr>
              <a:t>RESULTS</a:t>
            </a:r>
            <a:endParaRPr lang="en-IN" sz="3200"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452600" y="1776926"/>
            <a:ext cx="5117776" cy="477520"/>
          </a:xfrm>
        </p:spPr>
        <p:txBody>
          <a:bodyPr vert="horz" lIns="91440" tIns="45720" rIns="91440" bIns="45720" rtlCol="0" anchor="t">
            <a:noAutofit/>
          </a:bodyPr>
          <a:lstStyle/>
          <a:p>
            <a:pPr marL="0" indent="0">
              <a:buNone/>
            </a:pPr>
            <a:r>
              <a:rPr lang="en-US" sz="1600" b="1" dirty="0" smtClean="0">
                <a:latin typeface="Cambria" pitchFamily="18" charset="0"/>
                <a:ea typeface="Cambria" pitchFamily="18" charset="0"/>
              </a:rPr>
              <a:t>Q11: Does profit track with yield?</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err="1" smtClean="0">
                <a:latin typeface="Cambria" pitchFamily="18" charset="0"/>
                <a:ea typeface="Cambria" pitchFamily="18" charset="0"/>
              </a:rPr>
              <a:t>Ans</a:t>
            </a:r>
            <a:r>
              <a:rPr lang="en-US" sz="1600" dirty="0" smtClean="0">
                <a:latin typeface="Cambria" pitchFamily="18" charset="0"/>
                <a:ea typeface="Cambria" pitchFamily="18" charset="0"/>
              </a:rPr>
              <a:t>: Moderately (r ≈ 0.49) — higher yield generally means higher profit, but the relationship isn't tight, meaning cost and price differences also drive profit outcomes independently of yield.</a:t>
            </a:r>
            <a:endParaRPr lang="en-IN" sz="1600" dirty="0">
              <a:latin typeface="Cambria" pitchFamily="18" charset="0"/>
              <a:ea typeface="Cambria" pitchFamily="18" charset="0"/>
            </a:endParaRPr>
          </a:p>
        </p:txBody>
      </p:sp>
      <p:pic>
        <p:nvPicPr>
          <p:cNvPr id="9"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16386" name="Picture 2"/>
          <p:cNvPicPr>
            <a:picLocks noChangeAspect="1" noChangeArrowheads="1"/>
          </p:cNvPicPr>
          <p:nvPr/>
        </p:nvPicPr>
        <p:blipFill>
          <a:blip r:embed="rId5"/>
          <a:srcRect/>
          <a:stretch>
            <a:fillRect/>
          </a:stretch>
        </p:blipFill>
        <p:spPr bwMode="auto">
          <a:xfrm>
            <a:off x="6342453" y="1289762"/>
            <a:ext cx="1206014" cy="771058"/>
          </a:xfrm>
          <a:prstGeom prst="rect">
            <a:avLst/>
          </a:prstGeom>
          <a:noFill/>
          <a:ln w="9525">
            <a:noFill/>
            <a:miter lim="800000"/>
            <a:headEnd/>
            <a:tailEnd/>
          </a:ln>
          <a:effectLst/>
        </p:spPr>
      </p:pic>
      <p:sp>
        <p:nvSpPr>
          <p:cNvPr id="12" name="Text Placeholder 1">
            <a:extLst>
              <a:ext uri="{FF2B5EF4-FFF2-40B4-BE49-F238E27FC236}">
                <a16:creationId xmlns:a16="http://schemas.microsoft.com/office/drawing/2014/main" xmlns="" id="{B19D8AC7-3787-4ADB-9212-0808F015C2DD}"/>
              </a:ext>
            </a:extLst>
          </p:cNvPr>
          <p:cNvSpPr txBox="1">
            <a:spLocks/>
          </p:cNvSpPr>
          <p:nvPr/>
        </p:nvSpPr>
        <p:spPr>
          <a:xfrm>
            <a:off x="6007425" y="1947987"/>
            <a:ext cx="5649620" cy="477520"/>
          </a:xfrm>
          <a:prstGeom prst="rect">
            <a:avLst/>
          </a:prstGeom>
        </p:spPr>
        <p:txBody>
          <a:bodyPr vert="horz" lIns="91440" tIns="45720" rIns="91440" bIns="45720" rtlCol="0" anchor="t">
            <a:noAutofit/>
          </a:bodyPr>
          <a:lstStyle/>
          <a:p>
            <a:pPr lvl="0">
              <a:spcBef>
                <a:spcPts val="1000"/>
              </a:spcBef>
              <a:buClr>
                <a:schemeClr val="accent4"/>
              </a:buClr>
              <a:buSzPct val="80000"/>
            </a:pPr>
            <a:r>
              <a:rPr lang="en-US" sz="1600" b="1" dirty="0" smtClean="0">
                <a:latin typeface="Cambria" pitchFamily="18" charset="0"/>
                <a:ea typeface="Cambria" pitchFamily="18" charset="0"/>
              </a:rPr>
              <a:t>Q12: Does more rainfall lead to higher yield?</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smtClean="0">
                <a:latin typeface="Cambria" pitchFamily="18" charset="0"/>
                <a:ea typeface="Cambria" pitchFamily="18" charset="0"/>
              </a:rPr>
              <a:t>A: No meaningful relationship — the correlation is essentially zero (r ≈ 0.03), so rainfall alone does not explain yield differences.</a:t>
            </a:r>
            <a:endParaRPr kumimoji="0" lang="en-IN" sz="1600" b="0" i="0" u="none" strike="noStrike" kern="1200" cap="none" spc="0" normalizeH="0" baseline="0" noProof="0" dirty="0">
              <a:ln>
                <a:noFill/>
              </a:ln>
              <a:solidFill>
                <a:schemeClr val="tx1">
                  <a:lumMod val="75000"/>
                  <a:lumOff val="25000"/>
                </a:schemeClr>
              </a:solidFill>
              <a:effectLst/>
              <a:uLnTx/>
              <a:uFillTx/>
              <a:latin typeface="Cambria" pitchFamily="18" charset="0"/>
              <a:ea typeface="Cambria" pitchFamily="18" charset="0"/>
            </a:endParaRPr>
          </a:p>
        </p:txBody>
      </p:sp>
      <p:pic>
        <p:nvPicPr>
          <p:cNvPr id="49154" name="Picture 2"/>
          <p:cNvPicPr>
            <a:picLocks noChangeAspect="1" noChangeArrowheads="1"/>
          </p:cNvPicPr>
          <p:nvPr/>
        </p:nvPicPr>
        <p:blipFill>
          <a:blip r:embed="rId6"/>
          <a:srcRect/>
          <a:stretch>
            <a:fillRect/>
          </a:stretch>
        </p:blipFill>
        <p:spPr bwMode="auto">
          <a:xfrm>
            <a:off x="279367" y="3139881"/>
            <a:ext cx="5086350" cy="3340100"/>
          </a:xfrm>
          <a:prstGeom prst="rect">
            <a:avLst/>
          </a:prstGeom>
          <a:noFill/>
          <a:ln w="9525">
            <a:noFill/>
            <a:miter lim="800000"/>
            <a:headEnd/>
            <a:tailEnd/>
          </a:ln>
          <a:effectLst/>
        </p:spPr>
      </p:pic>
      <p:pic>
        <p:nvPicPr>
          <p:cNvPr id="49155" name="Picture 3"/>
          <p:cNvPicPr>
            <a:picLocks noChangeAspect="1" noChangeArrowheads="1"/>
          </p:cNvPicPr>
          <p:nvPr/>
        </p:nvPicPr>
        <p:blipFill>
          <a:blip r:embed="rId7"/>
          <a:srcRect/>
          <a:stretch>
            <a:fillRect/>
          </a:stretch>
        </p:blipFill>
        <p:spPr bwMode="auto">
          <a:xfrm>
            <a:off x="6219986" y="3089135"/>
            <a:ext cx="5331311" cy="3122720"/>
          </a:xfrm>
          <a:prstGeom prst="rect">
            <a:avLst/>
          </a:prstGeom>
          <a:noFill/>
          <a:ln w="9525">
            <a:noFill/>
            <a:miter lim="800000"/>
            <a:headEnd/>
            <a:tailEnd/>
          </a:ln>
          <a:effectLst/>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49385" y="1219675"/>
            <a:ext cx="5631537" cy="830997"/>
          </a:xfrm>
        </p:spPr>
        <p:txBody>
          <a:bodyPr>
            <a:normAutofit/>
          </a:bodyPr>
          <a:lstStyle/>
          <a:p>
            <a:r>
              <a:rPr lang="en-GB" sz="3200" dirty="0" smtClean="0">
                <a:latin typeface="Cambria" pitchFamily="18" charset="0"/>
                <a:ea typeface="Cambria" pitchFamily="18" charset="0"/>
              </a:rPr>
              <a:t>RESULTS</a:t>
            </a:r>
            <a:endParaRPr lang="en-IN" sz="3200"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452600" y="1776926"/>
            <a:ext cx="5117776" cy="477520"/>
          </a:xfrm>
        </p:spPr>
        <p:txBody>
          <a:bodyPr vert="horz" lIns="91440" tIns="45720" rIns="91440" bIns="45720" rtlCol="0" anchor="t">
            <a:noAutofit/>
          </a:bodyPr>
          <a:lstStyle/>
          <a:p>
            <a:pPr marL="0" indent="0">
              <a:buNone/>
            </a:pPr>
            <a:r>
              <a:rPr lang="en-US" sz="1600" b="1" dirty="0" smtClean="0">
                <a:latin typeface="Cambria" pitchFamily="18" charset="0"/>
                <a:ea typeface="Cambria" pitchFamily="18" charset="0"/>
              </a:rPr>
              <a:t>Q13: </a:t>
            </a:r>
            <a:r>
              <a:rPr lang="en-US" sz="1600" b="1" dirty="0" smtClean="0">
                <a:latin typeface="Cambria" pitchFamily="18" charset="0"/>
                <a:ea typeface="Cambria" pitchFamily="18" charset="0"/>
              </a:rPr>
              <a:t>Which state performs best overall?</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smtClean="0">
                <a:latin typeface="Cambria" pitchFamily="18" charset="0"/>
                <a:ea typeface="Cambria" pitchFamily="18" charset="0"/>
              </a:rPr>
              <a:t>A: Punjab has the highest overall average profit, followed closely by Maharashtra; Andhra Pradesh ranks lowest.</a:t>
            </a:r>
            <a:endParaRPr lang="en-IN" sz="1600" dirty="0">
              <a:latin typeface="Cambria" pitchFamily="18" charset="0"/>
              <a:ea typeface="Cambria" pitchFamily="18" charset="0"/>
            </a:endParaRPr>
          </a:p>
        </p:txBody>
      </p:sp>
      <p:pic>
        <p:nvPicPr>
          <p:cNvPr id="9"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16386" name="Picture 2"/>
          <p:cNvPicPr>
            <a:picLocks noChangeAspect="1" noChangeArrowheads="1"/>
          </p:cNvPicPr>
          <p:nvPr/>
        </p:nvPicPr>
        <p:blipFill>
          <a:blip r:embed="rId5"/>
          <a:srcRect/>
          <a:stretch>
            <a:fillRect/>
          </a:stretch>
        </p:blipFill>
        <p:spPr bwMode="auto">
          <a:xfrm>
            <a:off x="6342453" y="1289762"/>
            <a:ext cx="1206014" cy="771058"/>
          </a:xfrm>
          <a:prstGeom prst="rect">
            <a:avLst/>
          </a:prstGeom>
          <a:noFill/>
          <a:ln w="9525">
            <a:noFill/>
            <a:miter lim="800000"/>
            <a:headEnd/>
            <a:tailEnd/>
          </a:ln>
          <a:effectLst/>
        </p:spPr>
      </p:pic>
      <p:sp>
        <p:nvSpPr>
          <p:cNvPr id="12" name="Text Placeholder 1">
            <a:extLst>
              <a:ext uri="{FF2B5EF4-FFF2-40B4-BE49-F238E27FC236}">
                <a16:creationId xmlns:a16="http://schemas.microsoft.com/office/drawing/2014/main" xmlns="" id="{B19D8AC7-3787-4ADB-9212-0808F015C2DD}"/>
              </a:ext>
            </a:extLst>
          </p:cNvPr>
          <p:cNvSpPr txBox="1">
            <a:spLocks/>
          </p:cNvSpPr>
          <p:nvPr/>
        </p:nvSpPr>
        <p:spPr>
          <a:xfrm>
            <a:off x="6007425" y="1770705"/>
            <a:ext cx="5649620" cy="477520"/>
          </a:xfrm>
          <a:prstGeom prst="rect">
            <a:avLst/>
          </a:prstGeom>
        </p:spPr>
        <p:txBody>
          <a:bodyPr vert="horz" lIns="91440" tIns="45720" rIns="91440" bIns="45720" rtlCol="0" anchor="t">
            <a:noAutofit/>
          </a:bodyPr>
          <a:lstStyle/>
          <a:p>
            <a:pPr lvl="0">
              <a:spcBef>
                <a:spcPts val="1000"/>
              </a:spcBef>
              <a:buClr>
                <a:schemeClr val="accent4"/>
              </a:buClr>
              <a:buSzPct val="80000"/>
            </a:pPr>
            <a:r>
              <a:rPr lang="en-US" sz="1600" b="1" dirty="0" smtClean="0">
                <a:latin typeface="Cambria" pitchFamily="18" charset="0"/>
                <a:ea typeface="Cambria" pitchFamily="18" charset="0"/>
              </a:rPr>
              <a:t>Q14: </a:t>
            </a:r>
            <a:r>
              <a:rPr lang="en-US" sz="1600" b="1" dirty="0" smtClean="0">
                <a:latin typeface="Cambria" pitchFamily="18" charset="0"/>
                <a:ea typeface="Cambria" pitchFamily="18" charset="0"/>
              </a:rPr>
              <a:t>Which season carries the highest disease/pest risk?</a:t>
            </a:r>
            <a:r>
              <a:rPr lang="en-US" sz="1600" dirty="0" smtClean="0">
                <a:latin typeface="Cambria" pitchFamily="18" charset="0"/>
                <a:ea typeface="Cambria" pitchFamily="18" charset="0"/>
              </a:rPr>
              <a:t/>
            </a:r>
            <a:br>
              <a:rPr lang="en-US" sz="1600" dirty="0" smtClean="0">
                <a:latin typeface="Cambria" pitchFamily="18" charset="0"/>
                <a:ea typeface="Cambria" pitchFamily="18" charset="0"/>
              </a:rPr>
            </a:br>
            <a:r>
              <a:rPr lang="en-US" sz="1600" dirty="0" smtClean="0">
                <a:latin typeface="Cambria" pitchFamily="18" charset="0"/>
                <a:ea typeface="Cambria" pitchFamily="18" charset="0"/>
              </a:rPr>
              <a:t>A: </a:t>
            </a:r>
            <a:r>
              <a:rPr lang="en-US" sz="1600" dirty="0" err="1" smtClean="0">
                <a:latin typeface="Cambria" pitchFamily="18" charset="0"/>
                <a:ea typeface="Cambria" pitchFamily="18" charset="0"/>
              </a:rPr>
              <a:t>Kharif</a:t>
            </a:r>
            <a:r>
              <a:rPr lang="en-US" sz="1600" dirty="0" smtClean="0">
                <a:latin typeface="Cambria" pitchFamily="18" charset="0"/>
                <a:ea typeface="Cambria" pitchFamily="18" charset="0"/>
              </a:rPr>
              <a:t> (54.5% average risk) is highest, </a:t>
            </a:r>
            <a:r>
              <a:rPr lang="en-US" sz="1600" dirty="0" err="1" smtClean="0">
                <a:latin typeface="Cambria" pitchFamily="18" charset="0"/>
                <a:ea typeface="Cambria" pitchFamily="18" charset="0"/>
              </a:rPr>
              <a:t>Zaid</a:t>
            </a:r>
            <a:r>
              <a:rPr lang="en-US" sz="1600" dirty="0" smtClean="0">
                <a:latin typeface="Cambria" pitchFamily="18" charset="0"/>
                <a:ea typeface="Cambria" pitchFamily="18" charset="0"/>
              </a:rPr>
              <a:t> (38.2%) is lowest — consistent with </a:t>
            </a:r>
            <a:r>
              <a:rPr lang="en-US" sz="1600" dirty="0" err="1" smtClean="0">
                <a:latin typeface="Cambria" pitchFamily="18" charset="0"/>
                <a:ea typeface="Cambria" pitchFamily="18" charset="0"/>
              </a:rPr>
              <a:t>Kharif's</a:t>
            </a:r>
            <a:r>
              <a:rPr lang="en-US" sz="1600" dirty="0" smtClean="0">
                <a:latin typeface="Cambria" pitchFamily="18" charset="0"/>
                <a:ea typeface="Cambria" pitchFamily="18" charset="0"/>
              </a:rPr>
              <a:t> monsoon rainfall driving humidity-linked risk.</a:t>
            </a:r>
            <a:endParaRPr kumimoji="0" lang="en-IN" sz="1600" b="0" i="0" u="none" strike="noStrike" kern="1200" cap="none" spc="0" normalizeH="0" baseline="0" noProof="0" dirty="0">
              <a:ln>
                <a:noFill/>
              </a:ln>
              <a:solidFill>
                <a:schemeClr val="tx1">
                  <a:lumMod val="75000"/>
                  <a:lumOff val="25000"/>
                </a:schemeClr>
              </a:solidFill>
              <a:effectLst/>
              <a:uLnTx/>
              <a:uFillTx/>
              <a:latin typeface="Cambria" pitchFamily="18" charset="0"/>
              <a:ea typeface="Cambria" pitchFamily="18" charset="0"/>
            </a:endParaRPr>
          </a:p>
        </p:txBody>
      </p:sp>
      <p:pic>
        <p:nvPicPr>
          <p:cNvPr id="1026" name="Picture 2"/>
          <p:cNvPicPr>
            <a:picLocks noChangeAspect="1" noChangeArrowheads="1"/>
          </p:cNvPicPr>
          <p:nvPr/>
        </p:nvPicPr>
        <p:blipFill>
          <a:blip r:embed="rId6"/>
          <a:srcRect/>
          <a:stretch>
            <a:fillRect/>
          </a:stretch>
        </p:blipFill>
        <p:spPr bwMode="auto">
          <a:xfrm>
            <a:off x="301335" y="3135085"/>
            <a:ext cx="5479667" cy="3000179"/>
          </a:xfrm>
          <a:prstGeom prst="rect">
            <a:avLst/>
          </a:prstGeom>
          <a:noFill/>
          <a:ln w="9525">
            <a:noFill/>
            <a:miter lim="800000"/>
            <a:headEnd/>
            <a:tailEnd/>
          </a:ln>
          <a:effectLst/>
        </p:spPr>
      </p:pic>
      <p:pic>
        <p:nvPicPr>
          <p:cNvPr id="1027" name="Picture 3"/>
          <p:cNvPicPr>
            <a:picLocks noChangeAspect="1" noChangeArrowheads="1"/>
          </p:cNvPicPr>
          <p:nvPr/>
        </p:nvPicPr>
        <p:blipFill>
          <a:blip r:embed="rId7"/>
          <a:srcRect/>
          <a:stretch>
            <a:fillRect/>
          </a:stretch>
        </p:blipFill>
        <p:spPr bwMode="auto">
          <a:xfrm>
            <a:off x="6241712" y="3097763"/>
            <a:ext cx="5222533" cy="3224115"/>
          </a:xfrm>
          <a:prstGeom prst="rect">
            <a:avLst/>
          </a:prstGeom>
          <a:noFill/>
          <a:ln w="9525">
            <a:noFill/>
            <a:miter lim="800000"/>
            <a:headEnd/>
            <a:tailEnd/>
          </a:ln>
          <a:effectLst/>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49385" y="1219675"/>
            <a:ext cx="5631537" cy="830997"/>
          </a:xfrm>
        </p:spPr>
        <p:txBody>
          <a:bodyPr>
            <a:normAutofit/>
          </a:bodyPr>
          <a:lstStyle/>
          <a:p>
            <a:r>
              <a:rPr lang="en-GB" sz="3200" dirty="0" smtClean="0">
                <a:latin typeface="Cambria" pitchFamily="18" charset="0"/>
                <a:ea typeface="Cambria" pitchFamily="18" charset="0"/>
              </a:rPr>
              <a:t>Key Insights</a:t>
            </a:r>
            <a:endParaRPr lang="en-IN" sz="3200"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pic>
        <p:nvPicPr>
          <p:cNvPr id="16386" name="Picture 2"/>
          <p:cNvPicPr>
            <a:picLocks noChangeAspect="1" noChangeArrowheads="1"/>
          </p:cNvPicPr>
          <p:nvPr/>
        </p:nvPicPr>
        <p:blipFill>
          <a:blip r:embed="rId5"/>
          <a:srcRect/>
          <a:stretch>
            <a:fillRect/>
          </a:stretch>
        </p:blipFill>
        <p:spPr bwMode="auto">
          <a:xfrm>
            <a:off x="6342453" y="1289762"/>
            <a:ext cx="1206014" cy="771058"/>
          </a:xfrm>
          <a:prstGeom prst="rect">
            <a:avLst/>
          </a:prstGeom>
          <a:noFill/>
          <a:ln w="9525">
            <a:noFill/>
            <a:miter lim="800000"/>
            <a:headEnd/>
            <a:tailEnd/>
          </a:ln>
          <a:effectLst/>
        </p:spPr>
      </p:pic>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3139815" y="1245081"/>
            <a:ext cx="8140895" cy="1274184"/>
          </a:xfrm>
        </p:spPr>
        <p:txBody>
          <a:bodyPr vert="horz" lIns="91440" tIns="45720" rIns="91440" bIns="45720" rtlCol="0" anchor="t">
            <a:noAutofit/>
          </a:bodyPr>
          <a:lstStyle/>
          <a:p>
            <a:pPr marL="0" indent="0">
              <a:buNone/>
            </a:pPr>
            <a:r>
              <a:rPr lang="en-IN" sz="2400" i="1" u="sng" dirty="0" smtClean="0">
                <a:latin typeface="Cambria" pitchFamily="18" charset="0"/>
                <a:ea typeface="Cambria" pitchFamily="18" charset="0"/>
              </a:rPr>
              <a:t>Present in section 14 of the </a:t>
            </a:r>
            <a:r>
              <a:rPr lang="en-IN" sz="2400" i="1" u="sng" dirty="0" err="1" smtClean="0">
                <a:latin typeface="Cambria" pitchFamily="18" charset="0"/>
                <a:ea typeface="Cambria" pitchFamily="18" charset="0"/>
              </a:rPr>
              <a:t>ipynb</a:t>
            </a:r>
            <a:r>
              <a:rPr lang="en-IN" sz="2400" i="1" u="sng" dirty="0" smtClean="0">
                <a:latin typeface="Cambria" pitchFamily="18" charset="0"/>
                <a:ea typeface="Cambria" pitchFamily="18" charset="0"/>
              </a:rPr>
              <a:t> file few preview are presented here</a:t>
            </a:r>
            <a:endParaRPr lang="en-IN" sz="2400" i="1" u="sng" dirty="0">
              <a:latin typeface="Cambria" pitchFamily="18" charset="0"/>
              <a:ea typeface="Cambria" pitchFamily="18" charset="0"/>
            </a:endParaRPr>
          </a:p>
        </p:txBody>
      </p:sp>
      <p:pic>
        <p:nvPicPr>
          <p:cNvPr id="50178" name="Picture 2"/>
          <p:cNvPicPr>
            <a:picLocks noChangeAspect="1" noChangeArrowheads="1"/>
          </p:cNvPicPr>
          <p:nvPr/>
        </p:nvPicPr>
        <p:blipFill>
          <a:blip r:embed="rId6"/>
          <a:srcRect/>
          <a:stretch>
            <a:fillRect/>
          </a:stretch>
        </p:blipFill>
        <p:spPr bwMode="auto">
          <a:xfrm>
            <a:off x="387188" y="2033686"/>
            <a:ext cx="10674350" cy="4152900"/>
          </a:xfrm>
          <a:prstGeom prst="rect">
            <a:avLst/>
          </a:prstGeom>
          <a:noFill/>
          <a:ln w="9525">
            <a:noFill/>
            <a:miter lim="800000"/>
            <a:headEnd/>
            <a:tailEnd/>
          </a:ln>
          <a:effectLst/>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703949" y="1238336"/>
            <a:ext cx="4735798" cy="830997"/>
          </a:xfrm>
        </p:spPr>
        <p:txBody>
          <a:bodyPr>
            <a:normAutofit/>
          </a:bodyPr>
          <a:lstStyle/>
          <a:p>
            <a:r>
              <a:rPr lang="en-IN" sz="4000" dirty="0">
                <a:latin typeface="Cambria" pitchFamily="18" charset="0"/>
                <a:ea typeface="Cambria" pitchFamily="18" charset="0"/>
              </a:rPr>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9"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sp>
        <p:nvSpPr>
          <p:cNvPr id="10" name="Title 3">
            <a:extLst>
              <a:ext uri="{FF2B5EF4-FFF2-40B4-BE49-F238E27FC236}">
                <a16:creationId xmlns:a16="http://schemas.microsoft.com/office/drawing/2014/main" xmlns="" id="{9B097C2C-D75A-31D4-CD9F-366F39CDE51D}"/>
              </a:ext>
            </a:extLst>
          </p:cNvPr>
          <p:cNvSpPr txBox="1">
            <a:spLocks/>
          </p:cNvSpPr>
          <p:nvPr/>
        </p:nvSpPr>
        <p:spPr>
          <a:xfrm>
            <a:off x="791035" y="1950574"/>
            <a:ext cx="9985822" cy="3610472"/>
          </a:xfrm>
          <a:prstGeom prst="rect">
            <a:avLst/>
          </a:prstGeom>
        </p:spPr>
        <p:txBody>
          <a:bodyPr vert="horz" lIns="91440" tIns="45720" rIns="91440" bIns="45720" rtlCol="0" anchor="t">
            <a:normAutofit/>
          </a:bodyPr>
          <a:lstStyle/>
          <a:p>
            <a:pPr lvl="0">
              <a:spcBef>
                <a:spcPct val="0"/>
              </a:spcBef>
            </a:pPr>
            <a:r>
              <a:rPr lang="en-US" dirty="0" smtClean="0">
                <a:latin typeface="Cambria" pitchFamily="18" charset="0"/>
                <a:ea typeface="Cambria" pitchFamily="18" charset="0"/>
                <a:cs typeface="+mj-cs"/>
              </a:rPr>
              <a:t>1. Normalizing by crop — Repeat all the yield/profit tests again after splitting Sugarcane out from the other 7 crops (or after switching from total yield to profit per hectare) to avoid one crop driving results due to its sheer volume.</a:t>
            </a:r>
          </a:p>
          <a:p>
            <a:pPr lvl="0">
              <a:spcBef>
                <a:spcPct val="0"/>
              </a:spcBef>
            </a:pPr>
            <a:endParaRPr lang="en-US" dirty="0" smtClean="0">
              <a:latin typeface="Cambria" pitchFamily="18" charset="0"/>
              <a:ea typeface="Cambria" pitchFamily="18" charset="0"/>
              <a:cs typeface="+mj-cs"/>
            </a:endParaRPr>
          </a:p>
          <a:p>
            <a:pPr lvl="0">
              <a:spcBef>
                <a:spcPct val="0"/>
              </a:spcBef>
            </a:pPr>
            <a:r>
              <a:rPr lang="en-US" dirty="0" smtClean="0">
                <a:latin typeface="Cambria" pitchFamily="18" charset="0"/>
                <a:ea typeface="Cambria" pitchFamily="18" charset="0"/>
                <a:cs typeface="+mj-cs"/>
              </a:rPr>
              <a:t>2. Regression/ML prediction — Build a regression/ML model to predict either profit or yield based on season, region, crop, and irrigation, and see what factor has the highest predictive power (not inferred from separate </a:t>
            </a:r>
            <a:r>
              <a:rPr lang="en-US" dirty="0" err="1" smtClean="0">
                <a:latin typeface="Cambria" pitchFamily="18" charset="0"/>
                <a:ea typeface="Cambria" pitchFamily="18" charset="0"/>
                <a:cs typeface="+mj-cs"/>
              </a:rPr>
              <a:t>pairwise</a:t>
            </a:r>
            <a:r>
              <a:rPr lang="en-US" dirty="0" smtClean="0">
                <a:latin typeface="Cambria" pitchFamily="18" charset="0"/>
                <a:ea typeface="Cambria" pitchFamily="18" charset="0"/>
                <a:cs typeface="+mj-cs"/>
              </a:rPr>
              <a:t> plots).</a:t>
            </a:r>
          </a:p>
          <a:p>
            <a:pPr lvl="0">
              <a:spcBef>
                <a:spcPct val="0"/>
              </a:spcBef>
            </a:pPr>
            <a:endParaRPr lang="en-US" dirty="0" smtClean="0">
              <a:latin typeface="Cambria" pitchFamily="18" charset="0"/>
              <a:ea typeface="Cambria" pitchFamily="18" charset="0"/>
              <a:cs typeface="+mj-cs"/>
            </a:endParaRPr>
          </a:p>
          <a:p>
            <a:pPr lvl="0">
              <a:spcBef>
                <a:spcPct val="0"/>
              </a:spcBef>
            </a:pPr>
            <a:r>
              <a:rPr lang="en-US" dirty="0" smtClean="0">
                <a:latin typeface="Cambria" pitchFamily="18" charset="0"/>
                <a:ea typeface="Cambria" pitchFamily="18" charset="0"/>
                <a:cs typeface="+mj-cs"/>
              </a:rPr>
              <a:t> 3. Validation — Due to possible synthetic nature of the dataset, validate the most important results (e.g., the roughly 49% of losses rate) by government/agriculture survey data to confirm findings before suggesting solutions.</a:t>
            </a:r>
            <a:endParaRPr kumimoji="0" lang="en-IN" i="0" u="none" strike="noStrike" kern="1200" cap="none" spc="0" normalizeH="0" baseline="0" noProof="0" dirty="0">
              <a:ln>
                <a:noFill/>
              </a:ln>
              <a:solidFill>
                <a:schemeClr val="tx1"/>
              </a:solidFill>
              <a:effectLst/>
              <a:uLnTx/>
              <a:uFillTx/>
              <a:latin typeface="Cambria" pitchFamily="18" charset="0"/>
              <a:ea typeface="Cambria" pitchFamily="18" charset="0"/>
              <a:cs typeface="+mj-cs"/>
            </a:endParaRPr>
          </a:p>
        </p:txBody>
      </p:sp>
    </p:spTree>
    <p:extLst>
      <p:ext uri="{BB962C8B-B14F-4D97-AF65-F5344CB8AC3E}">
        <p14:creationId xmlns:p14="http://schemas.microsoft.com/office/powerpoint/2010/main" xmlns=""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38635" y="1536916"/>
            <a:ext cx="4735798" cy="830997"/>
          </a:xfrm>
        </p:spPr>
        <p:txBody>
          <a:bodyPr>
            <a:normAutofit/>
          </a:bodyPr>
          <a:lstStyle/>
          <a:p>
            <a:r>
              <a:rPr lang="en-IN" sz="4000" dirty="0" err="1">
                <a:latin typeface="Cambria" pitchFamily="18" charset="0"/>
                <a:ea typeface="Cambria" pitchFamily="18" charset="0"/>
              </a:rPr>
              <a:t>GitHub</a:t>
            </a:r>
            <a:r>
              <a:rPr lang="en-IN" sz="4000" dirty="0">
                <a:latin typeface="Cambria" pitchFamily="18" charset="0"/>
                <a:ea typeface="Cambria" pitchFamily="18" charset="0"/>
              </a:rPr>
              <a:t> </a:t>
            </a:r>
            <a:r>
              <a:rPr lang="en-IN" sz="4000" dirty="0" smtClean="0">
                <a:latin typeface="Cambria" pitchFamily="18" charset="0"/>
                <a:ea typeface="Cambria" pitchFamily="18" charset="0"/>
              </a:rPr>
              <a:t>Link</a:t>
            </a:r>
            <a:endParaRPr lang="en-IN" sz="4000"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a16="http://schemas.microsoft.com/office/drawing/2014/main" xmlns="" id="{901A2257-2F98-CB88-038E-C0F1D0A1A363}"/>
              </a:ext>
            </a:extLst>
          </p:cNvPr>
          <p:cNvSpPr txBox="1">
            <a:spLocks/>
          </p:cNvSpPr>
          <p:nvPr/>
        </p:nvSpPr>
        <p:spPr>
          <a:xfrm>
            <a:off x="529777" y="2678360"/>
            <a:ext cx="8604891" cy="830997"/>
          </a:xfrm>
          <a:prstGeom prst="rect">
            <a:avLst/>
          </a:prstGeom>
        </p:spPr>
        <p:txBody>
          <a:bodyPr vert="horz" lIns="91440" tIns="45720" rIns="91440" bIns="45720" rtlCol="0" anchor="t">
            <a:normAutofit fontScale="92500"/>
          </a:bodyPr>
          <a:lstStyle/>
          <a:p>
            <a:pPr lvl="0">
              <a:spcBef>
                <a:spcPct val="0"/>
              </a:spcBef>
            </a:pPr>
            <a:r>
              <a:rPr kumimoji="0" lang="en-IN" sz="2800" b="1" i="0" u="none" strike="noStrike" kern="1200" cap="none" spc="0" normalizeH="0" baseline="0" noProof="0" dirty="0" smtClean="0">
                <a:ln>
                  <a:noFill/>
                </a:ln>
                <a:solidFill>
                  <a:schemeClr val="tx1"/>
                </a:solidFill>
                <a:effectLst/>
                <a:uLnTx/>
                <a:uFillTx/>
                <a:latin typeface="Cambria" pitchFamily="18" charset="0"/>
                <a:ea typeface="Cambria" pitchFamily="18" charset="0"/>
                <a:cs typeface="+mj-cs"/>
              </a:rPr>
              <a:t>Portfolio</a:t>
            </a:r>
            <a:r>
              <a:rPr kumimoji="0" lang="en-IN" sz="2800" b="1" i="0" u="none" strike="noStrike" kern="1200" cap="none" spc="0" normalizeH="0" noProof="0" dirty="0" smtClean="0">
                <a:ln>
                  <a:noFill/>
                </a:ln>
                <a:solidFill>
                  <a:schemeClr val="tx1"/>
                </a:solidFill>
                <a:effectLst/>
                <a:uLnTx/>
                <a:uFillTx/>
                <a:latin typeface="Cambria" pitchFamily="18" charset="0"/>
                <a:ea typeface="Cambria" pitchFamily="18" charset="0"/>
                <a:cs typeface="+mj-cs"/>
              </a:rPr>
              <a:t> or </a:t>
            </a:r>
            <a:r>
              <a:rPr kumimoji="0" lang="en-IN" sz="2800" b="1" i="0" u="none" strike="noStrike" kern="1200" cap="none" spc="0" normalizeH="0" noProof="0" dirty="0" err="1" smtClean="0">
                <a:ln>
                  <a:noFill/>
                </a:ln>
                <a:solidFill>
                  <a:schemeClr val="tx1"/>
                </a:solidFill>
                <a:effectLst/>
                <a:uLnTx/>
                <a:uFillTx/>
                <a:latin typeface="Cambria" pitchFamily="18" charset="0"/>
                <a:ea typeface="Cambria" pitchFamily="18" charset="0"/>
                <a:cs typeface="+mj-cs"/>
              </a:rPr>
              <a:t>Github</a:t>
            </a:r>
            <a:r>
              <a:rPr kumimoji="0" lang="en-IN" sz="2800" b="1" i="0" u="none" strike="noStrike" kern="1200" cap="none" spc="0" normalizeH="0" noProof="0" dirty="0" smtClean="0">
                <a:ln>
                  <a:noFill/>
                </a:ln>
                <a:solidFill>
                  <a:schemeClr val="tx1"/>
                </a:solidFill>
                <a:effectLst/>
                <a:uLnTx/>
                <a:uFillTx/>
                <a:latin typeface="Cambria" pitchFamily="18" charset="0"/>
                <a:ea typeface="Cambria" pitchFamily="18" charset="0"/>
                <a:cs typeface="+mj-cs"/>
              </a:rPr>
              <a:t> ID : </a:t>
            </a:r>
            <a:r>
              <a:rPr lang="en-US" sz="2800" dirty="0" smtClean="0">
                <a:latin typeface="Cambria" pitchFamily="18" charset="0"/>
                <a:ea typeface="Cambria" pitchFamily="18" charset="0"/>
              </a:rPr>
              <a:t>https://github.com/Dhruv-kundu</a:t>
            </a:r>
            <a:r>
              <a:rPr kumimoji="0" lang="en-IN" sz="2800" b="1" i="0" u="none" strike="noStrike" kern="1200" cap="none" spc="0" normalizeH="0" noProof="0" dirty="0" smtClean="0">
                <a:ln>
                  <a:noFill/>
                </a:ln>
                <a:solidFill>
                  <a:schemeClr val="tx1"/>
                </a:solidFill>
                <a:effectLst/>
                <a:uLnTx/>
                <a:uFillTx/>
                <a:latin typeface="Cambria" pitchFamily="18" charset="0"/>
                <a:ea typeface="Cambria" pitchFamily="18" charset="0"/>
                <a:cs typeface="+mj-cs"/>
              </a:rPr>
              <a:t> </a:t>
            </a:r>
            <a:endParaRPr kumimoji="0" lang="en-IN" sz="2800" b="1" i="0" u="none" strike="noStrike" kern="1200" cap="none" spc="0" normalizeH="0" baseline="0" noProof="0" dirty="0">
              <a:ln>
                <a:noFill/>
              </a:ln>
              <a:solidFill>
                <a:schemeClr val="tx1"/>
              </a:solidFill>
              <a:effectLst/>
              <a:uLnTx/>
              <a:uFillTx/>
              <a:latin typeface="Cambria" pitchFamily="18" charset="0"/>
              <a:ea typeface="Cambria" pitchFamily="18" charset="0"/>
              <a:cs typeface="+mj-cs"/>
            </a:endParaRPr>
          </a:p>
        </p:txBody>
      </p:sp>
      <p:sp>
        <p:nvSpPr>
          <p:cNvPr id="9" name="Title 3">
            <a:extLst>
              <a:ext uri="{FF2B5EF4-FFF2-40B4-BE49-F238E27FC236}">
                <a16:creationId xmlns:a16="http://schemas.microsoft.com/office/drawing/2014/main" xmlns="" id="{901A2257-2F98-CB88-038E-C0F1D0A1A363}"/>
              </a:ext>
            </a:extLst>
          </p:cNvPr>
          <p:cNvSpPr txBox="1">
            <a:spLocks/>
          </p:cNvSpPr>
          <p:nvPr/>
        </p:nvSpPr>
        <p:spPr>
          <a:xfrm>
            <a:off x="495564" y="3623863"/>
            <a:ext cx="8107259" cy="830997"/>
          </a:xfrm>
          <a:prstGeom prst="rect">
            <a:avLst/>
          </a:prstGeom>
        </p:spPr>
        <p:txBody>
          <a:bodyPr vert="horz" lIns="91440" tIns="45720" rIns="91440" bIns="45720" rtlCol="0" anchor="t">
            <a:normAutofit fontScale="77500" lnSpcReduction="20000"/>
          </a:bodyPr>
          <a:lstStyle/>
          <a:p>
            <a:pPr lvl="0">
              <a:spcBef>
                <a:spcPct val="0"/>
              </a:spcBef>
            </a:pPr>
            <a:r>
              <a:rPr kumimoji="0" lang="en-IN" sz="2800" b="1" i="0" u="none" strike="noStrike" kern="1200" cap="none" spc="0" normalizeH="0" baseline="0" noProof="0" dirty="0" smtClean="0">
                <a:ln>
                  <a:noFill/>
                </a:ln>
                <a:solidFill>
                  <a:schemeClr val="tx1"/>
                </a:solidFill>
                <a:effectLst/>
                <a:uLnTx/>
                <a:uFillTx/>
                <a:latin typeface="Cambria" pitchFamily="18" charset="0"/>
                <a:ea typeface="Cambria" pitchFamily="18" charset="0"/>
                <a:cs typeface="+mj-cs"/>
              </a:rPr>
              <a:t>Major Project Repository </a:t>
            </a:r>
            <a:r>
              <a:rPr lang="en-IN" sz="2800" b="1" dirty="0" smtClean="0">
                <a:latin typeface="Cambria" pitchFamily="18" charset="0"/>
                <a:ea typeface="Cambria" pitchFamily="18" charset="0"/>
                <a:cs typeface="+mj-cs"/>
              </a:rPr>
              <a:t>Link : </a:t>
            </a:r>
            <a:r>
              <a:rPr lang="en-IN" sz="2800" dirty="0" smtClean="0">
                <a:latin typeface="Cambria" pitchFamily="18" charset="0"/>
                <a:ea typeface="Cambria" pitchFamily="18" charset="0"/>
                <a:cs typeface="+mj-cs"/>
              </a:rPr>
              <a:t>https://github.com/Dhruv-kundu/Seasonal-Agricultural-Performance-Analysis </a:t>
            </a:r>
            <a:endParaRPr kumimoji="0" lang="en-IN" sz="2800" i="0" u="none" strike="noStrike" kern="1200" cap="none" spc="0" normalizeH="0" baseline="0" noProof="0" dirty="0">
              <a:ln>
                <a:noFill/>
              </a:ln>
              <a:solidFill>
                <a:schemeClr val="tx1"/>
              </a:solidFill>
              <a:effectLst/>
              <a:uLnTx/>
              <a:uFillTx/>
              <a:latin typeface="Cambria" pitchFamily="18" charset="0"/>
              <a:ea typeface="Cambria" pitchFamily="18" charset="0"/>
              <a:cs typeface="+mj-cs"/>
            </a:endParaRPr>
          </a:p>
        </p:txBody>
      </p:sp>
      <p:pic>
        <p:nvPicPr>
          <p:cNvPr id="10" name="Picture 4"/>
          <p:cNvPicPr>
            <a:picLocks noChangeAspect="1" noChangeArrowheads="1"/>
          </p:cNvPicPr>
          <p:nvPr/>
        </p:nvPicPr>
        <p:blipFill>
          <a:blip r:embed="rId3"/>
          <a:srcRect/>
          <a:stretch>
            <a:fillRect/>
          </a:stretch>
        </p:blipFill>
        <p:spPr bwMode="auto">
          <a:xfrm>
            <a:off x="7794724" y="0"/>
            <a:ext cx="1625600" cy="1085850"/>
          </a:xfrm>
          <a:prstGeom prst="rect">
            <a:avLst/>
          </a:prstGeom>
          <a:noFill/>
          <a:ln w="9525">
            <a:noFill/>
            <a:miter lim="800000"/>
            <a:headEnd/>
            <a:tailEnd/>
          </a:ln>
          <a:effectLst/>
        </p:spPr>
      </p:pic>
      <p:pic>
        <p:nvPicPr>
          <p:cNvPr id="11" name="Picture 3"/>
          <p:cNvPicPr>
            <a:picLocks noChangeAspect="1" noChangeArrowheads="1"/>
          </p:cNvPicPr>
          <p:nvPr/>
        </p:nvPicPr>
        <p:blipFill>
          <a:blip r:embed="rId4"/>
          <a:srcRect/>
          <a:stretch>
            <a:fillRect/>
          </a:stretch>
        </p:blipFill>
        <p:spPr bwMode="auto">
          <a:xfrm>
            <a:off x="289606" y="227174"/>
            <a:ext cx="6957898" cy="929821"/>
          </a:xfrm>
          <a:prstGeom prst="rect">
            <a:avLst/>
          </a:prstGeom>
          <a:noFill/>
          <a:ln w="9525">
            <a:noFill/>
            <a:miter lim="800000"/>
            <a:headEnd/>
            <a:tailEnd/>
          </a:ln>
          <a:effectLst/>
        </p:spPr>
      </p:pic>
    </p:spTree>
    <p:extLst>
      <p:ext uri="{BB962C8B-B14F-4D97-AF65-F5344CB8AC3E}">
        <p14:creationId xmlns:p14="http://schemas.microsoft.com/office/powerpoint/2010/main" xmlns=""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6"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ambria" pitchFamily="18" charset="0"/>
                <a:ea typeface="Cambria" pitchFamily="18" charset="0"/>
              </a:rPr>
              <a:t>VOIS Course </a:t>
            </a:r>
            <a:r>
              <a:rPr lang="en-IN" sz="3200" dirty="0" smtClean="0">
                <a:latin typeface="Cambria" pitchFamily="18" charset="0"/>
                <a:ea typeface="Cambria" pitchFamily="18" charset="0"/>
              </a:rPr>
              <a:t>Completion </a:t>
            </a:r>
            <a:r>
              <a:rPr lang="en-IN" sz="3200" dirty="0">
                <a:latin typeface="Cambria" pitchFamily="18" charset="0"/>
                <a:ea typeface="Cambria" pitchFamily="18" charset="0"/>
              </a:rPr>
              <a:t>C</a:t>
            </a:r>
            <a:r>
              <a:rPr lang="en-IN" sz="3200" dirty="0" smtClean="0">
                <a:latin typeface="Cambria" pitchFamily="18" charset="0"/>
                <a:ea typeface="Cambria" pitchFamily="18" charset="0"/>
              </a:rPr>
              <a:t>ertificate </a:t>
            </a:r>
            <a:r>
              <a:rPr lang="en-IN" sz="3200" dirty="0">
                <a:latin typeface="Cambria" pitchFamily="18" charset="0"/>
                <a:ea typeface="Cambria" pitchFamily="18" charset="0"/>
              </a:rPr>
              <a:t>- </a:t>
            </a:r>
            <a:br>
              <a:rPr lang="en-IN" sz="3200" dirty="0">
                <a:latin typeface="Cambria" pitchFamily="18" charset="0"/>
                <a:ea typeface="Cambria" pitchFamily="18" charset="0"/>
              </a:rPr>
            </a:br>
            <a:r>
              <a:rPr lang="en-IN" sz="3200" dirty="0">
                <a:latin typeface="Cambria" pitchFamily="18" charset="0"/>
                <a:ea typeface="Cambria" pitchFamily="18" charset="0"/>
              </a:rPr>
              <a:t>Course name- </a:t>
            </a:r>
            <a:r>
              <a:rPr lang="en-IN" sz="3200" i="1" u="sng" dirty="0">
                <a:latin typeface="Cambria" pitchFamily="18" charset="0"/>
                <a:ea typeface="Cambria" pitchFamily="18" charset="0"/>
              </a:rPr>
              <a:t>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7" name="Picture 3"/>
          <p:cNvPicPr>
            <a:picLocks noChangeAspect="1" noChangeArrowheads="1"/>
          </p:cNvPicPr>
          <p:nvPr/>
        </p:nvPicPr>
        <p:blipFill>
          <a:blip r:embed="rId3"/>
          <a:srcRect/>
          <a:stretch>
            <a:fillRect/>
          </a:stretch>
        </p:blipFill>
        <p:spPr bwMode="auto">
          <a:xfrm>
            <a:off x="785748" y="1352605"/>
            <a:ext cx="7555819" cy="5337444"/>
          </a:xfrm>
          <a:prstGeom prst="rect">
            <a:avLst/>
          </a:prstGeom>
          <a:noFill/>
          <a:ln w="9525">
            <a:noFill/>
            <a:miter lim="800000"/>
            <a:headEnd/>
            <a:tailEnd/>
          </a:ln>
          <a:effectLst/>
        </p:spPr>
      </p:pic>
      <p:pic>
        <p:nvPicPr>
          <p:cNvPr id="9" name="Picture 4"/>
          <p:cNvPicPr>
            <a:picLocks noChangeAspect="1" noChangeArrowheads="1"/>
          </p:cNvPicPr>
          <p:nvPr/>
        </p:nvPicPr>
        <p:blipFill>
          <a:blip r:embed="rId4"/>
          <a:srcRect/>
          <a:stretch>
            <a:fillRect/>
          </a:stretch>
        </p:blipFill>
        <p:spPr bwMode="auto">
          <a:xfrm>
            <a:off x="7794724" y="0"/>
            <a:ext cx="1625600" cy="1085850"/>
          </a:xfrm>
          <a:prstGeom prst="rect">
            <a:avLst/>
          </a:prstGeom>
          <a:noFill/>
          <a:ln w="9525">
            <a:noFill/>
            <a:miter lim="800000"/>
            <a:headEnd/>
            <a:tailEnd/>
          </a:ln>
          <a:effectLst/>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ambria" pitchFamily="18" charset="0"/>
                <a:ea typeface="Cambria" pitchFamily="18" charset="0"/>
              </a:rPr>
              <a:t>VOIS Course </a:t>
            </a:r>
            <a:r>
              <a:rPr lang="en-IN" sz="3200" dirty="0" smtClean="0">
                <a:latin typeface="Cambria" pitchFamily="18" charset="0"/>
                <a:ea typeface="Cambria" pitchFamily="18" charset="0"/>
              </a:rPr>
              <a:t>Completion </a:t>
            </a:r>
            <a:r>
              <a:rPr lang="en-IN" sz="3200" dirty="0">
                <a:latin typeface="Cambria" pitchFamily="18" charset="0"/>
                <a:ea typeface="Cambria" pitchFamily="18" charset="0"/>
              </a:rPr>
              <a:t>C</a:t>
            </a:r>
            <a:r>
              <a:rPr lang="en-IN" sz="3200" dirty="0" smtClean="0">
                <a:latin typeface="Cambria" pitchFamily="18" charset="0"/>
                <a:ea typeface="Cambria" pitchFamily="18" charset="0"/>
              </a:rPr>
              <a:t>ertificate </a:t>
            </a:r>
            <a:r>
              <a:rPr lang="en-IN" sz="3200" dirty="0">
                <a:latin typeface="Cambria" pitchFamily="18" charset="0"/>
                <a:ea typeface="Cambria" pitchFamily="18" charset="0"/>
              </a:rPr>
              <a:t>- </a:t>
            </a:r>
            <a:br>
              <a:rPr lang="en-IN" sz="3200" dirty="0">
                <a:latin typeface="Cambria" pitchFamily="18" charset="0"/>
                <a:ea typeface="Cambria" pitchFamily="18" charset="0"/>
              </a:rPr>
            </a:br>
            <a:r>
              <a:rPr lang="en-IN" sz="3200" dirty="0">
                <a:latin typeface="Cambria" pitchFamily="18" charset="0"/>
                <a:ea typeface="Cambria" pitchFamily="18" charset="0"/>
              </a:rPr>
              <a:t>Course name- </a:t>
            </a:r>
            <a:r>
              <a:rPr lang="en-IN" sz="3200" i="1" u="sng" dirty="0">
                <a:latin typeface="Cambria" pitchFamily="18" charset="0"/>
                <a:ea typeface="Cambria" pitchFamily="18" charset="0"/>
              </a:rPr>
              <a:t>Data </a:t>
            </a:r>
            <a:r>
              <a:rPr lang="en-IN" sz="3200" i="1" u="sng" dirty="0" smtClean="0">
                <a:latin typeface="Cambria" pitchFamily="18" charset="0"/>
                <a:ea typeface="Cambria" pitchFamily="18" charset="0"/>
              </a:rPr>
              <a:t>Analysis Using </a:t>
            </a:r>
            <a:r>
              <a:rPr lang="en-IN" sz="3200" i="1" u="sng" dirty="0" err="1" smtClean="0">
                <a:latin typeface="Cambria" pitchFamily="18" charset="0"/>
                <a:ea typeface="Cambria" pitchFamily="18" charset="0"/>
              </a:rPr>
              <a:t>NumPy</a:t>
            </a:r>
            <a:endParaRPr lang="en-IN" sz="3200" i="1" u="sng"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050" name="Picture 2"/>
          <p:cNvPicPr>
            <a:picLocks noChangeAspect="1" noChangeArrowheads="1"/>
          </p:cNvPicPr>
          <p:nvPr/>
        </p:nvPicPr>
        <p:blipFill>
          <a:blip r:embed="rId3"/>
          <a:srcRect/>
          <a:stretch>
            <a:fillRect/>
          </a:stretch>
        </p:blipFill>
        <p:spPr bwMode="auto">
          <a:xfrm>
            <a:off x="781472" y="1366287"/>
            <a:ext cx="7588087" cy="5324151"/>
          </a:xfrm>
          <a:prstGeom prst="rect">
            <a:avLst/>
          </a:prstGeom>
          <a:noFill/>
          <a:ln w="9525">
            <a:noFill/>
            <a:miter lim="800000"/>
            <a:headEnd/>
            <a:tailEnd/>
          </a:ln>
          <a:effectLst/>
        </p:spPr>
      </p:pic>
      <p:pic>
        <p:nvPicPr>
          <p:cNvPr id="9" name="Picture 4"/>
          <p:cNvPicPr>
            <a:picLocks noChangeAspect="1" noChangeArrowheads="1"/>
          </p:cNvPicPr>
          <p:nvPr/>
        </p:nvPicPr>
        <p:blipFill>
          <a:blip r:embed="rId4"/>
          <a:srcRect/>
          <a:stretch>
            <a:fillRect/>
          </a:stretch>
        </p:blipFill>
        <p:spPr bwMode="auto">
          <a:xfrm>
            <a:off x="7794724" y="0"/>
            <a:ext cx="1625600" cy="1085850"/>
          </a:xfrm>
          <a:prstGeom prst="rect">
            <a:avLst/>
          </a:prstGeom>
          <a:noFill/>
          <a:ln w="9525">
            <a:noFill/>
            <a:miter lim="800000"/>
            <a:headEnd/>
            <a:tailEnd/>
          </a:ln>
          <a:effectLst/>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ambria" pitchFamily="18" charset="0"/>
                <a:ea typeface="Cambria" pitchFamily="18" charset="0"/>
              </a:rPr>
              <a:t>VOIS Course </a:t>
            </a:r>
            <a:r>
              <a:rPr lang="en-IN" sz="3200" dirty="0" smtClean="0">
                <a:latin typeface="Cambria" pitchFamily="18" charset="0"/>
                <a:ea typeface="Cambria" pitchFamily="18" charset="0"/>
              </a:rPr>
              <a:t>Completion </a:t>
            </a:r>
            <a:r>
              <a:rPr lang="en-IN" sz="3200" dirty="0">
                <a:latin typeface="Cambria" pitchFamily="18" charset="0"/>
                <a:ea typeface="Cambria" pitchFamily="18" charset="0"/>
              </a:rPr>
              <a:t>C</a:t>
            </a:r>
            <a:r>
              <a:rPr lang="en-IN" sz="3200" dirty="0" smtClean="0">
                <a:latin typeface="Cambria" pitchFamily="18" charset="0"/>
                <a:ea typeface="Cambria" pitchFamily="18" charset="0"/>
              </a:rPr>
              <a:t>ertificate </a:t>
            </a:r>
            <a:r>
              <a:rPr lang="en-IN" sz="3200" dirty="0">
                <a:latin typeface="Cambria" pitchFamily="18" charset="0"/>
                <a:ea typeface="Cambria" pitchFamily="18" charset="0"/>
              </a:rPr>
              <a:t>- </a:t>
            </a:r>
            <a:br>
              <a:rPr lang="en-IN" sz="3200" dirty="0">
                <a:latin typeface="Cambria" pitchFamily="18" charset="0"/>
                <a:ea typeface="Cambria" pitchFamily="18" charset="0"/>
              </a:rPr>
            </a:br>
            <a:r>
              <a:rPr lang="en-IN" sz="3200" dirty="0">
                <a:latin typeface="Cambria" pitchFamily="18" charset="0"/>
                <a:ea typeface="Cambria" pitchFamily="18" charset="0"/>
              </a:rPr>
              <a:t>Course name- </a:t>
            </a:r>
            <a:r>
              <a:rPr lang="en-IN" sz="3200" i="1" u="sng" dirty="0">
                <a:latin typeface="Cambria" pitchFamily="18" charset="0"/>
                <a:ea typeface="Cambria" pitchFamily="18" charset="0"/>
              </a:rPr>
              <a:t>Data </a:t>
            </a:r>
            <a:r>
              <a:rPr lang="en-IN" sz="3200" i="1" u="sng" dirty="0" smtClean="0">
                <a:latin typeface="Cambria" pitchFamily="18" charset="0"/>
                <a:ea typeface="Cambria" pitchFamily="18" charset="0"/>
              </a:rPr>
              <a:t>Analysis Using Pandas </a:t>
            </a:r>
            <a:endParaRPr lang="en-IN" sz="3200" i="1" u="sng"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74" name="Picture 2"/>
          <p:cNvPicPr>
            <a:picLocks noChangeAspect="1" noChangeArrowheads="1"/>
          </p:cNvPicPr>
          <p:nvPr/>
        </p:nvPicPr>
        <p:blipFill>
          <a:blip r:embed="rId3"/>
          <a:srcRect/>
          <a:stretch>
            <a:fillRect/>
          </a:stretch>
        </p:blipFill>
        <p:spPr bwMode="auto">
          <a:xfrm>
            <a:off x="801234" y="1340433"/>
            <a:ext cx="7512342" cy="5375425"/>
          </a:xfrm>
          <a:prstGeom prst="rect">
            <a:avLst/>
          </a:prstGeom>
          <a:noFill/>
          <a:ln w="9525">
            <a:noFill/>
            <a:miter lim="800000"/>
            <a:headEnd/>
            <a:tailEnd/>
          </a:ln>
          <a:effectLst/>
        </p:spPr>
      </p:pic>
      <p:pic>
        <p:nvPicPr>
          <p:cNvPr id="9" name="Picture 4"/>
          <p:cNvPicPr>
            <a:picLocks noChangeAspect="1" noChangeArrowheads="1"/>
          </p:cNvPicPr>
          <p:nvPr/>
        </p:nvPicPr>
        <p:blipFill>
          <a:blip r:embed="rId4"/>
          <a:srcRect/>
          <a:stretch>
            <a:fillRect/>
          </a:stretch>
        </p:blipFill>
        <p:spPr bwMode="auto">
          <a:xfrm>
            <a:off x="7794724" y="0"/>
            <a:ext cx="1625600" cy="1085850"/>
          </a:xfrm>
          <a:prstGeom prst="rect">
            <a:avLst/>
          </a:prstGeom>
          <a:noFill/>
          <a:ln w="9525">
            <a:noFill/>
            <a:miter lim="800000"/>
            <a:headEnd/>
            <a:tailEnd/>
          </a:ln>
          <a:effectLst/>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ambria" pitchFamily="18" charset="0"/>
                <a:ea typeface="Cambria" pitchFamily="18" charset="0"/>
              </a:rPr>
              <a:t>VOIS Course </a:t>
            </a:r>
            <a:r>
              <a:rPr lang="en-IN" sz="3200" dirty="0" smtClean="0">
                <a:latin typeface="Cambria" pitchFamily="18" charset="0"/>
                <a:ea typeface="Cambria" pitchFamily="18" charset="0"/>
              </a:rPr>
              <a:t>Completion </a:t>
            </a:r>
            <a:r>
              <a:rPr lang="en-IN" sz="3200" dirty="0">
                <a:latin typeface="Cambria" pitchFamily="18" charset="0"/>
                <a:ea typeface="Cambria" pitchFamily="18" charset="0"/>
              </a:rPr>
              <a:t>C</a:t>
            </a:r>
            <a:r>
              <a:rPr lang="en-IN" sz="3200" dirty="0" smtClean="0">
                <a:latin typeface="Cambria" pitchFamily="18" charset="0"/>
                <a:ea typeface="Cambria" pitchFamily="18" charset="0"/>
              </a:rPr>
              <a:t>ertificate </a:t>
            </a:r>
            <a:r>
              <a:rPr lang="en-IN" sz="3200" dirty="0">
                <a:latin typeface="Cambria" pitchFamily="18" charset="0"/>
                <a:ea typeface="Cambria" pitchFamily="18" charset="0"/>
              </a:rPr>
              <a:t>- </a:t>
            </a:r>
            <a:br>
              <a:rPr lang="en-IN" sz="3200" dirty="0">
                <a:latin typeface="Cambria" pitchFamily="18" charset="0"/>
                <a:ea typeface="Cambria" pitchFamily="18" charset="0"/>
              </a:rPr>
            </a:br>
            <a:r>
              <a:rPr lang="en-IN" sz="3200" dirty="0">
                <a:latin typeface="Cambria" pitchFamily="18" charset="0"/>
                <a:ea typeface="Cambria" pitchFamily="18" charset="0"/>
              </a:rPr>
              <a:t>Course name- </a:t>
            </a:r>
            <a:r>
              <a:rPr lang="en-IN" sz="3200" i="1" u="sng" dirty="0" smtClean="0">
                <a:latin typeface="Cambria" pitchFamily="18" charset="0"/>
                <a:ea typeface="Cambria" pitchFamily="18" charset="0"/>
              </a:rPr>
              <a:t>Embedded Python</a:t>
            </a:r>
            <a:endParaRPr lang="en-IN" sz="3200" i="1" u="sng"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4098" name="Picture 2"/>
          <p:cNvPicPr>
            <a:picLocks noChangeAspect="1" noChangeArrowheads="1"/>
          </p:cNvPicPr>
          <p:nvPr/>
        </p:nvPicPr>
        <p:blipFill>
          <a:blip r:embed="rId3"/>
          <a:srcRect/>
          <a:stretch>
            <a:fillRect/>
          </a:stretch>
        </p:blipFill>
        <p:spPr bwMode="auto">
          <a:xfrm>
            <a:off x="788080" y="1361427"/>
            <a:ext cx="7534825" cy="5309020"/>
          </a:xfrm>
          <a:prstGeom prst="rect">
            <a:avLst/>
          </a:prstGeom>
          <a:noFill/>
          <a:ln w="9525">
            <a:noFill/>
            <a:miter lim="800000"/>
            <a:headEnd/>
            <a:tailEnd/>
          </a:ln>
          <a:effectLst/>
        </p:spPr>
      </p:pic>
      <p:pic>
        <p:nvPicPr>
          <p:cNvPr id="9" name="Picture 4"/>
          <p:cNvPicPr>
            <a:picLocks noChangeAspect="1" noChangeArrowheads="1"/>
          </p:cNvPicPr>
          <p:nvPr/>
        </p:nvPicPr>
        <p:blipFill>
          <a:blip r:embed="rId4"/>
          <a:srcRect/>
          <a:stretch>
            <a:fillRect/>
          </a:stretch>
        </p:blipFill>
        <p:spPr bwMode="auto">
          <a:xfrm>
            <a:off x="7794724" y="0"/>
            <a:ext cx="1625600" cy="1085850"/>
          </a:xfrm>
          <a:prstGeom prst="rect">
            <a:avLst/>
          </a:prstGeom>
          <a:noFill/>
          <a:ln w="9525">
            <a:noFill/>
            <a:miter lim="800000"/>
            <a:headEnd/>
            <a:tailEnd/>
          </a:ln>
          <a:effectLst/>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ambria" pitchFamily="18" charset="0"/>
                <a:ea typeface="Cambria" pitchFamily="18" charset="0"/>
              </a:rPr>
              <a:t>VOIS Course </a:t>
            </a:r>
            <a:r>
              <a:rPr lang="en-IN" sz="3200" dirty="0" smtClean="0">
                <a:latin typeface="Cambria" pitchFamily="18" charset="0"/>
                <a:ea typeface="Cambria" pitchFamily="18" charset="0"/>
              </a:rPr>
              <a:t>Completion </a:t>
            </a:r>
            <a:r>
              <a:rPr lang="en-IN" sz="3200" dirty="0">
                <a:latin typeface="Cambria" pitchFamily="18" charset="0"/>
                <a:ea typeface="Cambria" pitchFamily="18" charset="0"/>
              </a:rPr>
              <a:t>C</a:t>
            </a:r>
            <a:r>
              <a:rPr lang="en-IN" sz="3200" dirty="0" smtClean="0">
                <a:latin typeface="Cambria" pitchFamily="18" charset="0"/>
                <a:ea typeface="Cambria" pitchFamily="18" charset="0"/>
              </a:rPr>
              <a:t>ertificate </a:t>
            </a:r>
            <a:r>
              <a:rPr lang="en-IN" sz="3200" dirty="0">
                <a:latin typeface="Cambria" pitchFamily="18" charset="0"/>
                <a:ea typeface="Cambria" pitchFamily="18" charset="0"/>
              </a:rPr>
              <a:t>- </a:t>
            </a:r>
            <a:br>
              <a:rPr lang="en-IN" sz="3200" dirty="0">
                <a:latin typeface="Cambria" pitchFamily="18" charset="0"/>
                <a:ea typeface="Cambria" pitchFamily="18" charset="0"/>
              </a:rPr>
            </a:br>
            <a:r>
              <a:rPr lang="en-IN" sz="3200" dirty="0">
                <a:latin typeface="Cambria" pitchFamily="18" charset="0"/>
                <a:ea typeface="Cambria" pitchFamily="18" charset="0"/>
              </a:rPr>
              <a:t>Course name- </a:t>
            </a:r>
            <a:r>
              <a:rPr lang="en-IN" sz="3200" i="1" u="sng" dirty="0" smtClean="0">
                <a:latin typeface="Cambria" pitchFamily="18" charset="0"/>
                <a:ea typeface="Cambria" pitchFamily="18" charset="0"/>
              </a:rPr>
              <a:t>GUI Interface - </a:t>
            </a:r>
            <a:r>
              <a:rPr lang="en-IN" sz="3200" i="1" u="sng" dirty="0" err="1" smtClean="0">
                <a:latin typeface="Cambria" pitchFamily="18" charset="0"/>
                <a:ea typeface="Cambria" pitchFamily="18" charset="0"/>
              </a:rPr>
              <a:t>Tkinter</a:t>
            </a:r>
            <a:endParaRPr lang="en-IN" sz="3200" i="1" u="sng" dirty="0">
              <a:latin typeface="Cambria" pitchFamily="18" charset="0"/>
              <a:ea typeface="Cambria" pitchFamily="18" charset="0"/>
            </a:endParaRP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122" name="Picture 2"/>
          <p:cNvPicPr>
            <a:picLocks noChangeAspect="1" noChangeArrowheads="1"/>
          </p:cNvPicPr>
          <p:nvPr/>
        </p:nvPicPr>
        <p:blipFill>
          <a:blip r:embed="rId3"/>
          <a:srcRect/>
          <a:stretch>
            <a:fillRect/>
          </a:stretch>
        </p:blipFill>
        <p:spPr bwMode="auto">
          <a:xfrm>
            <a:off x="800134" y="1328574"/>
            <a:ext cx="7644070" cy="5410617"/>
          </a:xfrm>
          <a:prstGeom prst="rect">
            <a:avLst/>
          </a:prstGeom>
          <a:noFill/>
          <a:ln w="9525">
            <a:noFill/>
            <a:miter lim="800000"/>
            <a:headEnd/>
            <a:tailEnd/>
          </a:ln>
          <a:effectLst/>
        </p:spPr>
      </p:pic>
      <p:pic>
        <p:nvPicPr>
          <p:cNvPr id="11" name="Picture 4"/>
          <p:cNvPicPr>
            <a:picLocks noChangeAspect="1" noChangeArrowheads="1"/>
          </p:cNvPicPr>
          <p:nvPr/>
        </p:nvPicPr>
        <p:blipFill>
          <a:blip r:embed="rId4"/>
          <a:srcRect/>
          <a:stretch>
            <a:fillRect/>
          </a:stretch>
        </p:blipFill>
        <p:spPr bwMode="auto">
          <a:xfrm>
            <a:off x="7794724" y="0"/>
            <a:ext cx="1625600" cy="1085850"/>
          </a:xfrm>
          <a:prstGeom prst="rect">
            <a:avLst/>
          </a:prstGeom>
          <a:noFill/>
          <a:ln w="9525">
            <a:noFill/>
            <a:miter lim="800000"/>
            <a:headEnd/>
            <a:tailEnd/>
          </a:ln>
          <a:effectLst/>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849086" y="2565918"/>
            <a:ext cx="11342914" cy="1487774"/>
          </a:xfrm>
          <a:prstGeom prst="rect">
            <a:avLst/>
          </a:prstGeom>
        </p:spPr>
        <p:txBody>
          <a:bodyPr anchor="ctr">
            <a:normAutofit/>
          </a:bodyPr>
          <a:lstStyle/>
          <a:p>
            <a:pPr algn="ctr"/>
            <a:r>
              <a:rPr lang="en-US" sz="4800" b="1" dirty="0">
                <a:solidFill>
                  <a:schemeClr val="tx1"/>
                </a:solidFill>
                <a:latin typeface="Cambria" pitchFamily="18" charset="0"/>
                <a:ea typeface="Cambria" pitchFamily="18" charset="0"/>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2458902" y="159081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flipV="1">
            <a:off x="-822546" y="5165300"/>
            <a:ext cx="132081" cy="78503"/>
          </a:xfrm>
        </p:spPr>
        <p:txBody>
          <a:bodyPr>
            <a:normAutofit fontScale="25000" lnSpcReduction="20000"/>
          </a:bodyPr>
          <a:lstStyle/>
          <a:p>
            <a:endParaRPr lang="en-IN" dirty="0"/>
          </a:p>
        </p:txBody>
      </p:sp>
      <p:sp>
        <p:nvSpPr>
          <p:cNvPr id="11" name="Rectangle 10"/>
          <p:cNvSpPr/>
          <p:nvPr/>
        </p:nvSpPr>
        <p:spPr>
          <a:xfrm>
            <a:off x="2705877" y="4393459"/>
            <a:ext cx="8350897" cy="923330"/>
          </a:xfrm>
          <a:prstGeom prst="rect">
            <a:avLst/>
          </a:prstGeom>
        </p:spPr>
        <p:txBody>
          <a:bodyPr wrap="square">
            <a:spAutoFit/>
          </a:bodyPr>
          <a:lstStyle/>
          <a:p>
            <a:r>
              <a:rPr lang="en-US" dirty="0" smtClean="0">
                <a:latin typeface="Cambria" pitchFamily="18" charset="0"/>
                <a:ea typeface="Cambria" pitchFamily="18" charset="0"/>
              </a:rPr>
              <a:t>Submitted as part of [</a:t>
            </a:r>
            <a:r>
              <a:rPr lang="en-US" b="1" dirty="0" smtClean="0">
                <a:latin typeface="Cambria" pitchFamily="18" charset="0"/>
                <a:ea typeface="Cambria" pitchFamily="18" charset="0"/>
              </a:rPr>
              <a:t>VOIS  for Tech Data Analytics Internship AICTE Batch 2026–2027 — Major Project</a:t>
            </a:r>
            <a:r>
              <a:rPr lang="en-US" dirty="0" smtClean="0">
                <a:latin typeface="Cambria" pitchFamily="18" charset="0"/>
                <a:ea typeface="Cambria" pitchFamily="18" charset="0"/>
              </a:rPr>
              <a:t>], by [</a:t>
            </a:r>
            <a:r>
              <a:rPr lang="en-US" b="1" dirty="0" smtClean="0">
                <a:latin typeface="Cambria" pitchFamily="18" charset="0"/>
                <a:ea typeface="Cambria" pitchFamily="18" charset="0"/>
              </a:rPr>
              <a:t>DHRUV</a:t>
            </a:r>
            <a:r>
              <a:rPr lang="en-US" dirty="0" smtClean="0">
                <a:latin typeface="Cambria" pitchFamily="18" charset="0"/>
                <a:ea typeface="Cambria" pitchFamily="18" charset="0"/>
              </a:rPr>
              <a:t>], [</a:t>
            </a:r>
            <a:r>
              <a:rPr lang="en-US" b="1" dirty="0" smtClean="0">
                <a:latin typeface="Cambria" pitchFamily="18" charset="0"/>
                <a:ea typeface="Cambria" pitchFamily="18" charset="0"/>
              </a:rPr>
              <a:t>Guru </a:t>
            </a:r>
            <a:r>
              <a:rPr lang="en-US" b="1" dirty="0" err="1" smtClean="0">
                <a:latin typeface="Cambria" pitchFamily="18" charset="0"/>
                <a:ea typeface="Cambria" pitchFamily="18" charset="0"/>
              </a:rPr>
              <a:t>Gobind</a:t>
            </a:r>
            <a:r>
              <a:rPr lang="en-US" b="1" dirty="0" smtClean="0">
                <a:latin typeface="Cambria" pitchFamily="18" charset="0"/>
                <a:ea typeface="Cambria" pitchFamily="18" charset="0"/>
              </a:rPr>
              <a:t> Singh </a:t>
            </a:r>
            <a:r>
              <a:rPr lang="en-US" b="1" dirty="0" err="1" smtClean="0">
                <a:latin typeface="Cambria" pitchFamily="18" charset="0"/>
                <a:ea typeface="Cambria" pitchFamily="18" charset="0"/>
              </a:rPr>
              <a:t>Indraprastha</a:t>
            </a:r>
            <a:r>
              <a:rPr lang="en-US" b="1" dirty="0" smtClean="0">
                <a:latin typeface="Cambria" pitchFamily="18" charset="0"/>
                <a:ea typeface="Cambria" pitchFamily="18" charset="0"/>
              </a:rPr>
              <a:t> University</a:t>
            </a:r>
            <a:r>
              <a:rPr lang="en-US" dirty="0" smtClean="0">
                <a:latin typeface="Cambria" pitchFamily="18" charset="0"/>
                <a:ea typeface="Cambria" pitchFamily="18" charset="0"/>
              </a:rPr>
              <a:t>].</a:t>
            </a:r>
            <a:endParaRPr lang="en-US" dirty="0">
              <a:latin typeface="Cambria" pitchFamily="18" charset="0"/>
              <a:ea typeface="Cambria" pitchFamily="18" charset="0"/>
            </a:endParaRPr>
          </a:p>
        </p:txBody>
      </p:sp>
      <p:sp>
        <p:nvSpPr>
          <p:cNvPr id="13" name="Rectangle 12"/>
          <p:cNvSpPr/>
          <p:nvPr/>
        </p:nvSpPr>
        <p:spPr>
          <a:xfrm>
            <a:off x="236375" y="459051"/>
            <a:ext cx="8350897" cy="1508105"/>
          </a:xfrm>
          <a:prstGeom prst="rect">
            <a:avLst/>
          </a:prstGeom>
        </p:spPr>
        <p:txBody>
          <a:bodyPr wrap="square">
            <a:spAutoFit/>
          </a:bodyPr>
          <a:lstStyle/>
          <a:p>
            <a:r>
              <a:rPr lang="en-IN" sz="2000" b="1" dirty="0" smtClean="0">
                <a:latin typeface="Cambria" pitchFamily="18" charset="0"/>
                <a:ea typeface="Cambria" pitchFamily="18" charset="0"/>
              </a:rPr>
              <a:t>Recap</a:t>
            </a:r>
            <a:endParaRPr lang="en-US" sz="2000" b="1" dirty="0" smtClean="0">
              <a:latin typeface="Cambria" pitchFamily="18" charset="0"/>
              <a:ea typeface="Cambria" pitchFamily="18" charset="0"/>
            </a:endParaRPr>
          </a:p>
          <a:p>
            <a:pPr>
              <a:buFont typeface="Arial" pitchFamily="34" charset="0"/>
              <a:buChar char="•"/>
            </a:pPr>
            <a:r>
              <a:rPr lang="en-US" dirty="0" smtClean="0">
                <a:latin typeface="Cambria" pitchFamily="18" charset="0"/>
                <a:ea typeface="Cambria" pitchFamily="18" charset="0"/>
              </a:rPr>
              <a:t>Cleaned and explored a 4,000-record, 8-state, 8-crop, 3-season agricultural dataset </a:t>
            </a:r>
          </a:p>
          <a:p>
            <a:pPr>
              <a:buFont typeface="Arial" pitchFamily="34" charset="0"/>
              <a:buChar char="•"/>
            </a:pPr>
            <a:r>
              <a:rPr lang="en-US" dirty="0" smtClean="0">
                <a:latin typeface="Cambria" pitchFamily="18" charset="0"/>
                <a:ea typeface="Cambria" pitchFamily="18" charset="0"/>
              </a:rPr>
              <a:t>Performed </a:t>
            </a:r>
            <a:r>
              <a:rPr lang="en-US" dirty="0" err="1" smtClean="0">
                <a:latin typeface="Cambria" pitchFamily="18" charset="0"/>
                <a:ea typeface="Cambria" pitchFamily="18" charset="0"/>
              </a:rPr>
              <a:t>univariate</a:t>
            </a:r>
            <a:r>
              <a:rPr lang="en-US" dirty="0" smtClean="0">
                <a:latin typeface="Cambria" pitchFamily="18" charset="0"/>
                <a:ea typeface="Cambria" pitchFamily="18" charset="0"/>
              </a:rPr>
              <a:t>, </a:t>
            </a:r>
            <a:r>
              <a:rPr lang="en-US" dirty="0" err="1" smtClean="0">
                <a:latin typeface="Cambria" pitchFamily="18" charset="0"/>
                <a:ea typeface="Cambria" pitchFamily="18" charset="0"/>
              </a:rPr>
              <a:t>bivariate</a:t>
            </a:r>
            <a:r>
              <a:rPr lang="en-US" dirty="0" smtClean="0">
                <a:latin typeface="Cambria" pitchFamily="18" charset="0"/>
                <a:ea typeface="Cambria" pitchFamily="18" charset="0"/>
              </a:rPr>
              <a:t>, and multivariate analysis </a:t>
            </a:r>
          </a:p>
          <a:p>
            <a:pPr>
              <a:buFont typeface="Arial" pitchFamily="34" charset="0"/>
              <a:buChar char="•"/>
            </a:pPr>
            <a:r>
              <a:rPr lang="en-US" dirty="0" smtClean="0">
                <a:latin typeface="Cambria" pitchFamily="18" charset="0"/>
                <a:ea typeface="Cambria" pitchFamily="18" charset="0"/>
              </a:rPr>
              <a:t>Added regional, risk, and economic-depth analyses (Section 13) </a:t>
            </a:r>
          </a:p>
          <a:p>
            <a:pPr>
              <a:buFont typeface="Arial" pitchFamily="34" charset="0"/>
              <a:buChar char="•"/>
            </a:pPr>
            <a:r>
              <a:rPr lang="en-US" dirty="0" smtClean="0">
                <a:latin typeface="Cambria" pitchFamily="18" charset="0"/>
                <a:ea typeface="Cambria" pitchFamily="18" charset="0"/>
              </a:rPr>
              <a:t>Derived 8 evidence-based insights with limitations and recommendations</a:t>
            </a:r>
            <a:endParaRPr lang="en-US" dirty="0">
              <a:latin typeface="Cambria" pitchFamily="18" charset="0"/>
              <a:ea typeface="Cambria" pitchFamily="18" charset="0"/>
            </a:endParaRPr>
          </a:p>
        </p:txBody>
      </p:sp>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784</TotalTime>
  <Words>1120</Words>
  <Application>Microsoft Office PowerPoint</Application>
  <PresentationFormat>Custom</PresentationFormat>
  <Paragraphs>87</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Facet</vt:lpstr>
      <vt:lpstr>Project Title – Seasonal Agricultural Performance Analysis </vt:lpstr>
      <vt:lpstr>PROBLEM  STATEMENT</vt:lpstr>
      <vt:lpstr>Project Description  </vt:lpstr>
      <vt:lpstr>Technology Used</vt:lpstr>
      <vt:lpstr>WHO ARE THE END USERS?</vt:lpstr>
      <vt:lpstr>RESULTS </vt:lpstr>
      <vt:lpstr>RESULTS : Economic Deep-Dive </vt:lpstr>
      <vt:lpstr>RESULTS : Resource Efficiency</vt:lpstr>
      <vt:lpstr>RESULTS : Risk Analysis</vt:lpstr>
      <vt:lpstr>RESULTS</vt:lpstr>
      <vt:lpstr>RESULTS</vt:lpstr>
      <vt:lpstr>RESULTS</vt:lpstr>
      <vt:lpstr>Key Insights</vt:lpstr>
      <vt:lpstr>Future scope</vt:lpstr>
      <vt:lpstr>GitHub Link</vt:lpstr>
      <vt:lpstr>VOIS Course Completion Certificate -  Course name- Data Visualization </vt:lpstr>
      <vt:lpstr>VOIS Course Completion Certificate -  Course name- Data Analysis Using NumPy</vt:lpstr>
      <vt:lpstr>VOIS Course Completion Certificate -  Course name- Data Analysis Using Pandas </vt:lpstr>
      <vt:lpstr>VOIS Course Completion Certificate -  Course name- Embedded Python</vt:lpstr>
      <vt:lpstr>VOIS Course Completion Certificate -  Course name- GUI Interface - Tkinter</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Pushpendra</cp:lastModifiedBy>
  <cp:revision>120</cp:revision>
  <dcterms:created xsi:type="dcterms:W3CDTF">2021-07-11T13:13:15Z</dcterms:created>
  <dcterms:modified xsi:type="dcterms:W3CDTF">2026-09-04T06:53:56Z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